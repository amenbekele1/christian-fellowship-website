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Welcome everyone. Today is a big day for our fellowship — we are launching three things at once: our public website, the members portal, and our library service. Let me walk you through each one.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Three launches in one. Say a sentence about each, then tell them we will look at each in turn.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the front door. Anyone can visit without an account — a friend, a family member, someone new to Warsaw looking for a church. Share wetcf.com freely.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Six things waiting for every member once they sign in. We will look at the most important ones now.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Leaders post once and it reaches everyone instantly. Events now have full pages with photos and video.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Every member belongs to a BUS group. Each one now has its own chat, video room and task list.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If you serve on any of these teams, the portal now gives your team its own space. Speak to a leader if you would like to join one.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the part that is brand new. We have a shelf of Christian books and from today anyone can borrow them. Reserve on the portal, collect at fellowship, return by the due date. The portal reminds you.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These arrive on your phone even when the app is closed. Turn them on once and you will not miss anything.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Worth doing this together in the room — it takes ten seconds and makes everything else easier.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People will ask about this. Be direct: members only, encrypted, deletable, never sold.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Hold this slide up and give people a full minute to scan. Walk around and help anyone who is stuck. Anyone without a phone on them can speak to a leader afterwards.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Ask them to follow both accounts today, and to send wetcf.com to one person this week.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Close on the verse the logo carries. Thank them, and invite anyone with questions to come and find you.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image" Target="../media/image-4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image" Target="../media/image-7-5.png"/><Relationship Id="rId6" Type="http://schemas.openxmlformats.org/officeDocument/2006/relationships/image" Target="../media/image-7-6.png"/><Relationship Id="rId7" Type="http://schemas.openxmlformats.org/officeDocument/2006/relationships/image" Target="../media/image-7-7.png"/><Relationship Id="rId8" Type="http://schemas.openxmlformats.org/officeDocument/2006/relationships/image" Target="../media/image-7-8.png"/><Relationship Id="rId9" Type="http://schemas.openxmlformats.org/officeDocument/2006/relationships/image" Target="../media/image-7-9.png"/><Relationship Id="rId10" Type="http://schemas.openxmlformats.org/officeDocument/2006/relationships/slideLayout" Target="../slideLayouts/slideLayout1.xml"/><Relationship Id="rId11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image" Target="../media/image-11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image" Target="../media/image-13-2.png"/><Relationship Id="rId3" Type="http://schemas.openxmlformats.org/officeDocument/2006/relationships/image" Target="../media/image-13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C0F0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886200" y="347472"/>
            <a:ext cx="1371600" cy="137160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457200" y="1847088"/>
            <a:ext cx="8229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C9A8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Welcome to wetcf.com</a:t>
            </a:r>
            <a:endParaRPr lang="en-US" sz="4200" dirty="0"/>
          </a:p>
        </p:txBody>
      </p:sp>
      <p:sp>
        <p:nvSpPr>
          <p:cNvPr id="4" name="Text 1"/>
          <p:cNvSpPr txBox="1"/>
          <p:nvPr/>
        </p:nvSpPr>
        <p:spPr>
          <a:xfrm>
            <a:off x="457200" y="2615184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FAF7F0"/>
                </a:solidFill>
              </a:rPr>
              <a:t>እንኳን ወደ wetcf.com በደህና መጡ</a:t>
            </a:r>
            <a:endParaRPr lang="en-US" sz="2200" dirty="0"/>
          </a:p>
        </p:txBody>
      </p:sp>
      <p:sp>
        <p:nvSpPr>
          <p:cNvPr id="5" name="Shape 2"/>
          <p:cNvSpPr/>
          <p:nvPr/>
        </p:nvSpPr>
        <p:spPr>
          <a:xfrm>
            <a:off x="2834640" y="3163824"/>
            <a:ext cx="3474720" cy="36576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457200" y="3328416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i="1" dirty="0">
                <a:solidFill>
                  <a:srgbClr val="EDD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website, our member portal, and our library</a:t>
            </a:r>
            <a:endParaRPr lang="en-US" sz="1600" dirty="0"/>
          </a:p>
        </p:txBody>
      </p:sp>
      <p:sp>
        <p:nvSpPr>
          <p:cNvPr id="7" name="Text 4"/>
          <p:cNvSpPr txBox="1"/>
          <p:nvPr/>
        </p:nvSpPr>
        <p:spPr>
          <a:xfrm>
            <a:off x="457200" y="3712464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i="1" dirty="0">
                <a:solidFill>
                  <a:srgbClr val="FAF7F0"/>
                </a:solidFill>
              </a:rPr>
              <a:t>ዛሬ ይጀምራሉ</a:t>
            </a:r>
            <a:endParaRPr lang="en-US" sz="1600" dirty="0"/>
          </a:p>
        </p:txBody>
      </p:sp>
      <p:sp>
        <p:nvSpPr>
          <p:cNvPr id="8" name="Text 5"/>
          <p:cNvSpPr txBox="1"/>
          <p:nvPr/>
        </p:nvSpPr>
        <p:spPr>
          <a:xfrm>
            <a:off x="0" y="4480560"/>
            <a:ext cx="9144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spc="100" kern="0" dirty="0">
                <a:solidFill>
                  <a:srgbClr val="C4A8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Warsaw Ethiopian Christian Fellowship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274320"/>
            <a:ext cx="81381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1C0F0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Three Things, Launching Today</a:t>
            </a:r>
            <a:endParaRPr lang="en-US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502920" y="841248"/>
            <a:ext cx="8138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900" dirty="0">
                <a:solidFill>
                  <a:srgbClr val="7A5535"/>
                </a:solidFill>
              </a:rPr>
              <a:t>ዛሬ የሚጀምሩ ሦስት ነገሮች</a:t>
            </a:r>
            <a:endParaRPr lang="en-US" sz="1900" dirty="0"/>
          </a:p>
        </p:txBody>
      </p:sp>
      <p:sp>
        <p:nvSpPr>
          <p:cNvPr id="4" name="Shape 2"/>
          <p:cNvSpPr/>
          <p:nvPr/>
        </p:nvSpPr>
        <p:spPr>
          <a:xfrm>
            <a:off x="475488" y="1481328"/>
            <a:ext cx="2606040" cy="2926080"/>
          </a:xfrm>
          <a:prstGeom prst="roundRect">
            <a:avLst>
              <a:gd name="adj" fmla="val 3860"/>
            </a:avLst>
          </a:prstGeom>
          <a:solidFill>
            <a:srgbClr val="FFFFFF"/>
          </a:solidFill>
          <a:ln w="19050">
            <a:solidFill>
              <a:srgbClr val="C9A84C"/>
            </a:solidFill>
            <a:prstDash val="solid"/>
          </a:ln>
          <a:effectLst>
            <a:outerShdw sx="100000" sy="100000" kx="0" ky="0" algn="bl" rotWithShape="0" blurRad="101600" dist="38100" dir="2700000">
              <a:srgbClr val="C0B4A4">
                <a:alpha val="3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348740" y="1719072"/>
            <a:ext cx="859536" cy="859536"/>
          </a:xfrm>
          <a:prstGeom prst="ellipse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12052" y="1882384"/>
            <a:ext cx="532912" cy="532912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548640" y="2688336"/>
            <a:ext cx="245973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C0F0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Website</a:t>
            </a:r>
            <a:endParaRPr lang="en-US" sz="1700" dirty="0"/>
          </a:p>
        </p:txBody>
      </p:sp>
      <p:sp>
        <p:nvSpPr>
          <p:cNvPr id="8" name="Text 5"/>
          <p:cNvSpPr txBox="1"/>
          <p:nvPr/>
        </p:nvSpPr>
        <p:spPr>
          <a:xfrm>
            <a:off x="548640" y="3054096"/>
            <a:ext cx="245973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7A5535"/>
                </a:solidFill>
              </a:rPr>
              <a:t>ድረ-ገጻችን</a:t>
            </a:r>
            <a:endParaRPr lang="en-US" sz="1400" dirty="0"/>
          </a:p>
        </p:txBody>
      </p:sp>
      <p:sp>
        <p:nvSpPr>
          <p:cNvPr id="9" name="Text 6"/>
          <p:cNvSpPr txBox="1"/>
          <p:nvPr/>
        </p:nvSpPr>
        <p:spPr>
          <a:xfrm>
            <a:off x="621792" y="3438144"/>
            <a:ext cx="231343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dirty="0">
                <a:solidFill>
                  <a:srgbClr val="3D23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public home at wetcf.com — who we are and when we meet.</a:t>
            </a:r>
            <a:endParaRPr lang="en-US" sz="1350" dirty="0"/>
          </a:p>
        </p:txBody>
      </p:sp>
      <p:sp>
        <p:nvSpPr>
          <p:cNvPr id="10" name="Shape 7"/>
          <p:cNvSpPr/>
          <p:nvPr/>
        </p:nvSpPr>
        <p:spPr>
          <a:xfrm>
            <a:off x="3255264" y="1481328"/>
            <a:ext cx="2606040" cy="2926080"/>
          </a:xfrm>
          <a:prstGeom prst="roundRect">
            <a:avLst>
              <a:gd name="adj" fmla="val 3860"/>
            </a:avLst>
          </a:prstGeom>
          <a:solidFill>
            <a:srgbClr val="FFFFFF"/>
          </a:solidFill>
          <a:ln w="19050">
            <a:solidFill>
              <a:srgbClr val="C9A84C"/>
            </a:solidFill>
            <a:prstDash val="solid"/>
          </a:ln>
          <a:effectLst>
            <a:outerShdw sx="100000" sy="100000" kx="0" ky="0" algn="bl" rotWithShape="0" blurRad="101600" dist="38100" dir="2700000">
              <a:srgbClr val="C0B4A4">
                <a:alpha val="35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4128516" y="1719072"/>
            <a:ext cx="859536" cy="859536"/>
          </a:xfrm>
          <a:prstGeom prst="ellipse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91828" y="1882384"/>
            <a:ext cx="532912" cy="532912"/>
          </a:xfrm>
          <a:prstGeom prst="rect">
            <a:avLst/>
          </a:prstGeom>
        </p:spPr>
      </p:pic>
      <p:sp>
        <p:nvSpPr>
          <p:cNvPr id="13" name="Text 9"/>
          <p:cNvSpPr txBox="1"/>
          <p:nvPr/>
        </p:nvSpPr>
        <p:spPr>
          <a:xfrm>
            <a:off x="3328416" y="2688336"/>
            <a:ext cx="245973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C0F0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Members Portal</a:t>
            </a:r>
            <a:endParaRPr lang="en-US" sz="1700" dirty="0"/>
          </a:p>
        </p:txBody>
      </p:sp>
      <p:sp>
        <p:nvSpPr>
          <p:cNvPr id="14" name="Text 10"/>
          <p:cNvSpPr txBox="1"/>
          <p:nvPr/>
        </p:nvSpPr>
        <p:spPr>
          <a:xfrm>
            <a:off x="3328416" y="3054096"/>
            <a:ext cx="245973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7A5535"/>
                </a:solidFill>
              </a:rPr>
              <a:t>የአባላት ፖርታል</a:t>
            </a:r>
            <a:endParaRPr lang="en-US" sz="1400" dirty="0"/>
          </a:p>
        </p:txBody>
      </p:sp>
      <p:sp>
        <p:nvSpPr>
          <p:cNvPr id="15" name="Text 11"/>
          <p:cNvSpPr txBox="1"/>
          <p:nvPr/>
        </p:nvSpPr>
        <p:spPr>
          <a:xfrm>
            <a:off x="3401568" y="3438144"/>
            <a:ext cx="231343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dirty="0">
                <a:solidFill>
                  <a:srgbClr val="3D23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private space for members — groups, teams and meetings.</a:t>
            </a:r>
            <a:endParaRPr lang="en-US" sz="1350" dirty="0"/>
          </a:p>
        </p:txBody>
      </p:sp>
      <p:sp>
        <p:nvSpPr>
          <p:cNvPr id="16" name="Shape 12"/>
          <p:cNvSpPr/>
          <p:nvPr/>
        </p:nvSpPr>
        <p:spPr>
          <a:xfrm>
            <a:off x="6035040" y="1481328"/>
            <a:ext cx="2606040" cy="2926080"/>
          </a:xfrm>
          <a:prstGeom prst="roundRect">
            <a:avLst>
              <a:gd name="adj" fmla="val 3860"/>
            </a:avLst>
          </a:prstGeom>
          <a:solidFill>
            <a:srgbClr val="FFFFFF"/>
          </a:solidFill>
          <a:ln w="19050">
            <a:solidFill>
              <a:srgbClr val="C9A84C"/>
            </a:solidFill>
            <a:prstDash val="solid"/>
          </a:ln>
          <a:effectLst>
            <a:outerShdw sx="100000" sy="100000" kx="0" ky="0" algn="bl" rotWithShape="0" blurRad="101600" dist="38100" dir="2700000">
              <a:srgbClr val="C0B4A4">
                <a:alpha val="35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6908292" y="1719072"/>
            <a:ext cx="859536" cy="859536"/>
          </a:xfrm>
          <a:prstGeom prst="ellipse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71604" y="1882384"/>
            <a:ext cx="532912" cy="532912"/>
          </a:xfrm>
          <a:prstGeom prst="rect">
            <a:avLst/>
          </a:prstGeom>
        </p:spPr>
      </p:pic>
      <p:sp>
        <p:nvSpPr>
          <p:cNvPr id="19" name="Text 14"/>
          <p:cNvSpPr txBox="1"/>
          <p:nvPr/>
        </p:nvSpPr>
        <p:spPr>
          <a:xfrm>
            <a:off x="6108192" y="2688336"/>
            <a:ext cx="245973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C0F0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Fellowship Library</a:t>
            </a:r>
            <a:endParaRPr lang="en-US" sz="1700" dirty="0"/>
          </a:p>
        </p:txBody>
      </p:sp>
      <p:sp>
        <p:nvSpPr>
          <p:cNvPr id="20" name="Text 15"/>
          <p:cNvSpPr txBox="1"/>
          <p:nvPr/>
        </p:nvSpPr>
        <p:spPr>
          <a:xfrm>
            <a:off x="6108192" y="3054096"/>
            <a:ext cx="245973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7A5535"/>
                </a:solidFill>
              </a:rPr>
              <a:t>ቤተ-መጻሕፍት</a:t>
            </a:r>
            <a:endParaRPr lang="en-US" sz="1400" dirty="0"/>
          </a:p>
        </p:txBody>
      </p:sp>
      <p:sp>
        <p:nvSpPr>
          <p:cNvPr id="21" name="Text 16"/>
          <p:cNvSpPr txBox="1"/>
          <p:nvPr/>
        </p:nvSpPr>
        <p:spPr>
          <a:xfrm>
            <a:off x="6181344" y="3438144"/>
            <a:ext cx="231343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dirty="0">
                <a:solidFill>
                  <a:srgbClr val="3D23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books, open for borrowing. Reserve online, collect here.</a:t>
            </a:r>
            <a:endParaRPr lang="en-US" sz="13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C0F0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274320"/>
            <a:ext cx="81381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C9A8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Our Public Website</a:t>
            </a:r>
            <a:endParaRPr lang="en-US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502920" y="841248"/>
            <a:ext cx="8138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900" dirty="0">
                <a:solidFill>
                  <a:srgbClr val="FAF7F0"/>
                </a:solidFill>
              </a:rPr>
              <a:t>ይፋዊ ድረ-ገጻችን</a:t>
            </a:r>
            <a:endParaRPr lang="en-US" sz="1900" dirty="0"/>
          </a:p>
        </p:txBody>
      </p:sp>
      <p:sp>
        <p:nvSpPr>
          <p:cNvPr id="4" name="Text 2"/>
          <p:cNvSpPr txBox="1"/>
          <p:nvPr/>
        </p:nvSpPr>
        <p:spPr>
          <a:xfrm>
            <a:off x="502920" y="1243584"/>
            <a:ext cx="81381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EDD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wetcf.com  —  anyone can visit, no account needed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02920" y="1700784"/>
            <a:ext cx="3931920" cy="1280160"/>
          </a:xfrm>
          <a:prstGeom prst="roundRect">
            <a:avLst>
              <a:gd name="adj" fmla="val 7143"/>
            </a:avLst>
          </a:prstGeom>
          <a:solidFill>
            <a:srgbClr val="2B1508"/>
          </a:solidFill>
          <a:ln w="15875">
            <a:solidFill>
              <a:srgbClr val="C9A84C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40664" y="1975104"/>
            <a:ext cx="731520" cy="731520"/>
          </a:xfrm>
          <a:prstGeom prst="ellipse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79653" y="2114093"/>
            <a:ext cx="453542" cy="453542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1600200" y="1993392"/>
            <a:ext cx="2697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Home &amp; About</a:t>
            </a:r>
            <a:endParaRPr lang="en-US" sz="1600" dirty="0"/>
          </a:p>
        </p:txBody>
      </p:sp>
      <p:sp>
        <p:nvSpPr>
          <p:cNvPr id="9" name="Text 6"/>
          <p:cNvSpPr txBox="1"/>
          <p:nvPr/>
        </p:nvSpPr>
        <p:spPr>
          <a:xfrm>
            <a:off x="1600200" y="2340864"/>
            <a:ext cx="2697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AF7F0"/>
                </a:solidFill>
              </a:rPr>
              <a:t>ስለ እኛ</a:t>
            </a:r>
            <a:endParaRPr lang="en-US" sz="1400" dirty="0"/>
          </a:p>
        </p:txBody>
      </p:sp>
      <p:sp>
        <p:nvSpPr>
          <p:cNvPr id="10" name="Shape 7"/>
          <p:cNvSpPr/>
          <p:nvPr/>
        </p:nvSpPr>
        <p:spPr>
          <a:xfrm>
            <a:off x="4709160" y="1700784"/>
            <a:ext cx="3931920" cy="1280160"/>
          </a:xfrm>
          <a:prstGeom prst="roundRect">
            <a:avLst>
              <a:gd name="adj" fmla="val 7143"/>
            </a:avLst>
          </a:prstGeom>
          <a:solidFill>
            <a:srgbClr val="2B1508"/>
          </a:solidFill>
          <a:ln w="15875">
            <a:solidFill>
              <a:srgbClr val="C9A84C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4946904" y="1975104"/>
            <a:ext cx="731520" cy="731520"/>
          </a:xfrm>
          <a:prstGeom prst="ellipse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85893" y="2114093"/>
            <a:ext cx="453542" cy="453542"/>
          </a:xfrm>
          <a:prstGeom prst="rect">
            <a:avLst/>
          </a:prstGeom>
        </p:spPr>
      </p:pic>
      <p:sp>
        <p:nvSpPr>
          <p:cNvPr id="13" name="Text 9"/>
          <p:cNvSpPr txBox="1"/>
          <p:nvPr/>
        </p:nvSpPr>
        <p:spPr>
          <a:xfrm>
            <a:off x="5806440" y="1993392"/>
            <a:ext cx="2697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Programs &amp; Events</a:t>
            </a:r>
            <a:endParaRPr lang="en-US" sz="1600" dirty="0"/>
          </a:p>
        </p:txBody>
      </p:sp>
      <p:sp>
        <p:nvSpPr>
          <p:cNvPr id="14" name="Text 10"/>
          <p:cNvSpPr txBox="1"/>
          <p:nvPr/>
        </p:nvSpPr>
        <p:spPr>
          <a:xfrm>
            <a:off x="5806440" y="2340864"/>
            <a:ext cx="2697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AF7F0"/>
                </a:solidFill>
              </a:rPr>
              <a:t>ዝግጅቶች</a:t>
            </a:r>
            <a:endParaRPr lang="en-US" sz="1400" dirty="0"/>
          </a:p>
        </p:txBody>
      </p:sp>
      <p:sp>
        <p:nvSpPr>
          <p:cNvPr id="15" name="Shape 11"/>
          <p:cNvSpPr/>
          <p:nvPr/>
        </p:nvSpPr>
        <p:spPr>
          <a:xfrm>
            <a:off x="502920" y="3218688"/>
            <a:ext cx="3931920" cy="1280160"/>
          </a:xfrm>
          <a:prstGeom prst="roundRect">
            <a:avLst>
              <a:gd name="adj" fmla="val 7143"/>
            </a:avLst>
          </a:prstGeom>
          <a:solidFill>
            <a:srgbClr val="2B1508"/>
          </a:solidFill>
          <a:ln w="15875">
            <a:solidFill>
              <a:srgbClr val="C9A84C"/>
            </a:solidFill>
            <a:prstDash val="solid"/>
          </a:ln>
        </p:spPr>
      </p:sp>
      <p:sp>
        <p:nvSpPr>
          <p:cNvPr id="16" name="Shape 12"/>
          <p:cNvSpPr/>
          <p:nvPr/>
        </p:nvSpPr>
        <p:spPr>
          <a:xfrm>
            <a:off x="740664" y="3493008"/>
            <a:ext cx="731520" cy="731520"/>
          </a:xfrm>
          <a:prstGeom prst="ellipse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9653" y="3631997"/>
            <a:ext cx="453542" cy="453542"/>
          </a:xfrm>
          <a:prstGeom prst="rect">
            <a:avLst/>
          </a:prstGeom>
        </p:spPr>
      </p:pic>
      <p:sp>
        <p:nvSpPr>
          <p:cNvPr id="18" name="Text 13"/>
          <p:cNvSpPr txBox="1"/>
          <p:nvPr/>
        </p:nvSpPr>
        <p:spPr>
          <a:xfrm>
            <a:off x="1600200" y="3511296"/>
            <a:ext cx="2697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Visit Us</a:t>
            </a:r>
            <a:endParaRPr lang="en-US" sz="1600" dirty="0"/>
          </a:p>
        </p:txBody>
      </p:sp>
      <p:sp>
        <p:nvSpPr>
          <p:cNvPr id="19" name="Text 14"/>
          <p:cNvSpPr txBox="1"/>
          <p:nvPr/>
        </p:nvSpPr>
        <p:spPr>
          <a:xfrm>
            <a:off x="1600200" y="3858768"/>
            <a:ext cx="2697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AF7F0"/>
                </a:solidFill>
              </a:rPr>
              <a:t>ይጎብኙን</a:t>
            </a:r>
            <a:endParaRPr lang="en-US" sz="1400" dirty="0"/>
          </a:p>
        </p:txBody>
      </p:sp>
      <p:sp>
        <p:nvSpPr>
          <p:cNvPr id="20" name="Shape 15"/>
          <p:cNvSpPr/>
          <p:nvPr/>
        </p:nvSpPr>
        <p:spPr>
          <a:xfrm>
            <a:off x="4709160" y="3218688"/>
            <a:ext cx="3931920" cy="1280160"/>
          </a:xfrm>
          <a:prstGeom prst="roundRect">
            <a:avLst>
              <a:gd name="adj" fmla="val 7143"/>
            </a:avLst>
          </a:prstGeom>
          <a:solidFill>
            <a:srgbClr val="2B1508"/>
          </a:solidFill>
          <a:ln w="15875">
            <a:solidFill>
              <a:srgbClr val="C9A84C"/>
            </a:solidFill>
            <a:prstDash val="solid"/>
          </a:ln>
        </p:spPr>
      </p:sp>
      <p:sp>
        <p:nvSpPr>
          <p:cNvPr id="21" name="Shape 16"/>
          <p:cNvSpPr/>
          <p:nvPr/>
        </p:nvSpPr>
        <p:spPr>
          <a:xfrm>
            <a:off x="4946904" y="3493008"/>
            <a:ext cx="731520" cy="731520"/>
          </a:xfrm>
          <a:prstGeom prst="ellipse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pic>
        <p:nvPicPr>
          <p:cNvPr id="2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85893" y="3631997"/>
            <a:ext cx="453542" cy="453542"/>
          </a:xfrm>
          <a:prstGeom prst="rect">
            <a:avLst/>
          </a:prstGeom>
        </p:spPr>
      </p:pic>
      <p:sp>
        <p:nvSpPr>
          <p:cNvPr id="23" name="Text 17"/>
          <p:cNvSpPr txBox="1"/>
          <p:nvPr/>
        </p:nvSpPr>
        <p:spPr>
          <a:xfrm>
            <a:off x="5806440" y="3511296"/>
            <a:ext cx="2697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Follow Us</a:t>
            </a:r>
            <a:endParaRPr lang="en-US" sz="1600" dirty="0"/>
          </a:p>
        </p:txBody>
      </p:sp>
      <p:sp>
        <p:nvSpPr>
          <p:cNvPr id="24" name="Text 18"/>
          <p:cNvSpPr txBox="1"/>
          <p:nvPr/>
        </p:nvSpPr>
        <p:spPr>
          <a:xfrm>
            <a:off x="5806440" y="3858768"/>
            <a:ext cx="2697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AF7F0"/>
                </a:solidFill>
              </a:rPr>
              <a:t>ይከታተሉን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274320"/>
            <a:ext cx="81381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1C0F0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Inside the Members Portal</a:t>
            </a:r>
            <a:endParaRPr lang="en-US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502920" y="841248"/>
            <a:ext cx="8138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900" dirty="0">
                <a:solidFill>
                  <a:srgbClr val="7A5535"/>
                </a:solidFill>
              </a:rPr>
              <a:t>በአባላት ፖርታል ውስጥ</a:t>
            </a:r>
            <a:endParaRPr lang="en-US" sz="1900" dirty="0"/>
          </a:p>
        </p:txBody>
      </p:sp>
      <p:sp>
        <p:nvSpPr>
          <p:cNvPr id="4" name="Shape 2"/>
          <p:cNvSpPr/>
          <p:nvPr/>
        </p:nvSpPr>
        <p:spPr>
          <a:xfrm>
            <a:off x="475488" y="1389888"/>
            <a:ext cx="2542032" cy="1591056"/>
          </a:xfrm>
          <a:prstGeom prst="roundRect">
            <a:avLst>
              <a:gd name="adj" fmla="val 6322"/>
            </a:avLst>
          </a:prstGeom>
          <a:solidFill>
            <a:srgbClr val="FFFFFF"/>
          </a:solidFill>
          <a:ln w="19050">
            <a:solidFill>
              <a:srgbClr val="C9A84C"/>
            </a:solidFill>
            <a:prstDash val="solid"/>
          </a:ln>
          <a:effectLst>
            <a:outerShdw sx="100000" sy="100000" kx="0" ky="0" algn="bl" rotWithShape="0" blurRad="101600" dist="38100" dir="2700000">
              <a:srgbClr val="C0B4A4">
                <a:alpha val="3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408176" y="1545336"/>
            <a:ext cx="676656" cy="676656"/>
          </a:xfrm>
          <a:prstGeom prst="ellipse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36741" y="1673901"/>
            <a:ext cx="419527" cy="419527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548640" y="2286000"/>
            <a:ext cx="23957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50" b="1" dirty="0">
                <a:solidFill>
                  <a:srgbClr val="1C0F0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Announcements</a:t>
            </a:r>
            <a:endParaRPr lang="en-US" sz="1550" dirty="0"/>
          </a:p>
        </p:txBody>
      </p:sp>
      <p:sp>
        <p:nvSpPr>
          <p:cNvPr id="8" name="Text 5"/>
          <p:cNvSpPr txBox="1"/>
          <p:nvPr/>
        </p:nvSpPr>
        <p:spPr>
          <a:xfrm>
            <a:off x="548640" y="2578608"/>
            <a:ext cx="23957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7A5535"/>
                </a:solidFill>
              </a:rPr>
              <a:t>ማስታወቂያዎች</a:t>
            </a:r>
            <a:endParaRPr lang="en-US" sz="1250" dirty="0"/>
          </a:p>
        </p:txBody>
      </p:sp>
      <p:sp>
        <p:nvSpPr>
          <p:cNvPr id="9" name="Shape 6"/>
          <p:cNvSpPr/>
          <p:nvPr/>
        </p:nvSpPr>
        <p:spPr>
          <a:xfrm>
            <a:off x="3209544" y="1389888"/>
            <a:ext cx="2542032" cy="1591056"/>
          </a:xfrm>
          <a:prstGeom prst="roundRect">
            <a:avLst>
              <a:gd name="adj" fmla="val 6322"/>
            </a:avLst>
          </a:prstGeom>
          <a:solidFill>
            <a:srgbClr val="FFFFFF"/>
          </a:solidFill>
          <a:ln w="19050">
            <a:solidFill>
              <a:srgbClr val="C9A84C"/>
            </a:solidFill>
            <a:prstDash val="solid"/>
          </a:ln>
          <a:effectLst>
            <a:outerShdw sx="100000" sy="100000" kx="0" ky="0" algn="bl" rotWithShape="0" blurRad="101600" dist="38100" dir="2700000">
              <a:srgbClr val="C0B4A4">
                <a:alpha val="35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4142232" y="1545336"/>
            <a:ext cx="676656" cy="676656"/>
          </a:xfrm>
          <a:prstGeom prst="ellipse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70797" y="1673901"/>
            <a:ext cx="419527" cy="419527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3282696" y="2286000"/>
            <a:ext cx="23957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50" b="1" dirty="0">
                <a:solidFill>
                  <a:srgbClr val="1C0F0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Events</a:t>
            </a:r>
            <a:endParaRPr lang="en-US" sz="1550" dirty="0"/>
          </a:p>
        </p:txBody>
      </p:sp>
      <p:sp>
        <p:nvSpPr>
          <p:cNvPr id="13" name="Text 9"/>
          <p:cNvSpPr txBox="1"/>
          <p:nvPr/>
        </p:nvSpPr>
        <p:spPr>
          <a:xfrm>
            <a:off x="3282696" y="2578608"/>
            <a:ext cx="23957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7A5535"/>
                </a:solidFill>
              </a:rPr>
              <a:t>ዝግጅቶች</a:t>
            </a:r>
            <a:endParaRPr lang="en-US" sz="1250" dirty="0"/>
          </a:p>
        </p:txBody>
      </p:sp>
      <p:sp>
        <p:nvSpPr>
          <p:cNvPr id="14" name="Shape 10"/>
          <p:cNvSpPr/>
          <p:nvPr/>
        </p:nvSpPr>
        <p:spPr>
          <a:xfrm>
            <a:off x="5943600" y="1389888"/>
            <a:ext cx="2542032" cy="1591056"/>
          </a:xfrm>
          <a:prstGeom prst="roundRect">
            <a:avLst>
              <a:gd name="adj" fmla="val 6322"/>
            </a:avLst>
          </a:prstGeom>
          <a:solidFill>
            <a:srgbClr val="FFFFFF"/>
          </a:solidFill>
          <a:ln w="19050">
            <a:solidFill>
              <a:srgbClr val="C9A84C"/>
            </a:solidFill>
            <a:prstDash val="solid"/>
          </a:ln>
          <a:effectLst>
            <a:outerShdw sx="100000" sy="100000" kx="0" ky="0" algn="bl" rotWithShape="0" blurRad="101600" dist="38100" dir="2700000">
              <a:srgbClr val="C0B4A4">
                <a:alpha val="35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6876288" y="1545336"/>
            <a:ext cx="676656" cy="676656"/>
          </a:xfrm>
          <a:prstGeom prst="ellipse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04853" y="1673901"/>
            <a:ext cx="419527" cy="419527"/>
          </a:xfrm>
          <a:prstGeom prst="rect">
            <a:avLst/>
          </a:prstGeom>
        </p:spPr>
      </p:pic>
      <p:sp>
        <p:nvSpPr>
          <p:cNvPr id="17" name="Text 12"/>
          <p:cNvSpPr txBox="1"/>
          <p:nvPr/>
        </p:nvSpPr>
        <p:spPr>
          <a:xfrm>
            <a:off x="6016752" y="2286000"/>
            <a:ext cx="23957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50" b="1" dirty="0">
                <a:solidFill>
                  <a:srgbClr val="1C0F0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 Groups</a:t>
            </a:r>
            <a:endParaRPr lang="en-US" sz="1550" dirty="0"/>
          </a:p>
        </p:txBody>
      </p:sp>
      <p:sp>
        <p:nvSpPr>
          <p:cNvPr id="18" name="Text 13"/>
          <p:cNvSpPr txBox="1"/>
          <p:nvPr/>
        </p:nvSpPr>
        <p:spPr>
          <a:xfrm>
            <a:off x="6016752" y="2578608"/>
            <a:ext cx="23957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7A5535"/>
                </a:solidFill>
              </a:rPr>
              <a:t>BUS ቡድኖች</a:t>
            </a:r>
            <a:endParaRPr lang="en-US" sz="1250" dirty="0"/>
          </a:p>
        </p:txBody>
      </p:sp>
      <p:sp>
        <p:nvSpPr>
          <p:cNvPr id="19" name="Shape 14"/>
          <p:cNvSpPr/>
          <p:nvPr/>
        </p:nvSpPr>
        <p:spPr>
          <a:xfrm>
            <a:off x="475488" y="3127248"/>
            <a:ext cx="2542032" cy="1591056"/>
          </a:xfrm>
          <a:prstGeom prst="roundRect">
            <a:avLst>
              <a:gd name="adj" fmla="val 6322"/>
            </a:avLst>
          </a:prstGeom>
          <a:solidFill>
            <a:srgbClr val="FFFFFF"/>
          </a:solidFill>
          <a:ln w="19050">
            <a:solidFill>
              <a:srgbClr val="C9A84C"/>
            </a:solidFill>
            <a:prstDash val="solid"/>
          </a:ln>
          <a:effectLst>
            <a:outerShdw sx="100000" sy="100000" kx="0" ky="0" algn="bl" rotWithShape="0" blurRad="101600" dist="38100" dir="2700000">
              <a:srgbClr val="C0B4A4">
                <a:alpha val="35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1408176" y="3282696"/>
            <a:ext cx="676656" cy="676656"/>
          </a:xfrm>
          <a:prstGeom prst="ellipse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36741" y="3411261"/>
            <a:ext cx="419527" cy="419527"/>
          </a:xfrm>
          <a:prstGeom prst="rect">
            <a:avLst/>
          </a:prstGeom>
        </p:spPr>
      </p:pic>
      <p:sp>
        <p:nvSpPr>
          <p:cNvPr id="22" name="Text 16"/>
          <p:cNvSpPr txBox="1"/>
          <p:nvPr/>
        </p:nvSpPr>
        <p:spPr>
          <a:xfrm>
            <a:off x="548640" y="4023360"/>
            <a:ext cx="23957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50" b="1" dirty="0">
                <a:solidFill>
                  <a:srgbClr val="1C0F0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Serving Teams</a:t>
            </a:r>
            <a:endParaRPr lang="en-US" sz="1550" dirty="0"/>
          </a:p>
        </p:txBody>
      </p:sp>
      <p:sp>
        <p:nvSpPr>
          <p:cNvPr id="23" name="Text 17"/>
          <p:cNvSpPr txBox="1"/>
          <p:nvPr/>
        </p:nvSpPr>
        <p:spPr>
          <a:xfrm>
            <a:off x="548640" y="4315968"/>
            <a:ext cx="23957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7A5535"/>
                </a:solidFill>
              </a:rPr>
              <a:t>የአገልግሎት ቡድኖች</a:t>
            </a:r>
            <a:endParaRPr lang="en-US" sz="1250" dirty="0"/>
          </a:p>
        </p:txBody>
      </p:sp>
      <p:sp>
        <p:nvSpPr>
          <p:cNvPr id="24" name="Shape 18"/>
          <p:cNvSpPr/>
          <p:nvPr/>
        </p:nvSpPr>
        <p:spPr>
          <a:xfrm>
            <a:off x="3209544" y="3127248"/>
            <a:ext cx="2542032" cy="1591056"/>
          </a:xfrm>
          <a:prstGeom prst="roundRect">
            <a:avLst>
              <a:gd name="adj" fmla="val 6322"/>
            </a:avLst>
          </a:prstGeom>
          <a:solidFill>
            <a:srgbClr val="FFFFFF"/>
          </a:solidFill>
          <a:ln w="19050">
            <a:solidFill>
              <a:srgbClr val="C9A84C"/>
            </a:solidFill>
            <a:prstDash val="solid"/>
          </a:ln>
          <a:effectLst>
            <a:outerShdw sx="100000" sy="100000" kx="0" ky="0" algn="bl" rotWithShape="0" blurRad="101600" dist="38100" dir="2700000">
              <a:srgbClr val="C0B4A4">
                <a:alpha val="35000"/>
              </a:srgbClr>
            </a:outerShdw>
          </a:effectLst>
        </p:spPr>
      </p:sp>
      <p:sp>
        <p:nvSpPr>
          <p:cNvPr id="25" name="Shape 19"/>
          <p:cNvSpPr/>
          <p:nvPr/>
        </p:nvSpPr>
        <p:spPr>
          <a:xfrm>
            <a:off x="4142232" y="3282696"/>
            <a:ext cx="676656" cy="676656"/>
          </a:xfrm>
          <a:prstGeom prst="ellipse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pic>
        <p:nvPicPr>
          <p:cNvPr id="2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270797" y="3411261"/>
            <a:ext cx="419527" cy="419527"/>
          </a:xfrm>
          <a:prstGeom prst="rect">
            <a:avLst/>
          </a:prstGeom>
        </p:spPr>
      </p:pic>
      <p:sp>
        <p:nvSpPr>
          <p:cNvPr id="27" name="Text 20"/>
          <p:cNvSpPr txBox="1"/>
          <p:nvPr/>
        </p:nvSpPr>
        <p:spPr>
          <a:xfrm>
            <a:off x="3282696" y="4023360"/>
            <a:ext cx="23957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50" b="1" dirty="0">
                <a:solidFill>
                  <a:srgbClr val="1C0F0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Library</a:t>
            </a:r>
            <a:endParaRPr lang="en-US" sz="1550" dirty="0"/>
          </a:p>
        </p:txBody>
      </p:sp>
      <p:sp>
        <p:nvSpPr>
          <p:cNvPr id="28" name="Text 21"/>
          <p:cNvSpPr txBox="1"/>
          <p:nvPr/>
        </p:nvSpPr>
        <p:spPr>
          <a:xfrm>
            <a:off x="3282696" y="4315968"/>
            <a:ext cx="23957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7A5535"/>
                </a:solidFill>
              </a:rPr>
              <a:t>ቤተ-መጻሕፍት</a:t>
            </a:r>
            <a:endParaRPr lang="en-US" sz="1250" dirty="0"/>
          </a:p>
        </p:txBody>
      </p:sp>
      <p:sp>
        <p:nvSpPr>
          <p:cNvPr id="29" name="Shape 22"/>
          <p:cNvSpPr/>
          <p:nvPr/>
        </p:nvSpPr>
        <p:spPr>
          <a:xfrm>
            <a:off x="5943600" y="3127248"/>
            <a:ext cx="2542032" cy="1591056"/>
          </a:xfrm>
          <a:prstGeom prst="roundRect">
            <a:avLst>
              <a:gd name="adj" fmla="val 6322"/>
            </a:avLst>
          </a:prstGeom>
          <a:solidFill>
            <a:srgbClr val="FFFFFF"/>
          </a:solidFill>
          <a:ln w="19050">
            <a:solidFill>
              <a:srgbClr val="C9A84C"/>
            </a:solidFill>
            <a:prstDash val="solid"/>
          </a:ln>
          <a:effectLst>
            <a:outerShdw sx="100000" sy="100000" kx="0" ky="0" algn="bl" rotWithShape="0" blurRad="101600" dist="38100" dir="2700000">
              <a:srgbClr val="C0B4A4">
                <a:alpha val="35000"/>
              </a:srgbClr>
            </a:outerShdw>
          </a:effectLst>
        </p:spPr>
      </p:sp>
      <p:sp>
        <p:nvSpPr>
          <p:cNvPr id="30" name="Shape 23"/>
          <p:cNvSpPr/>
          <p:nvPr/>
        </p:nvSpPr>
        <p:spPr>
          <a:xfrm>
            <a:off x="6876288" y="3282696"/>
            <a:ext cx="676656" cy="676656"/>
          </a:xfrm>
          <a:prstGeom prst="ellipse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pic>
        <p:nvPicPr>
          <p:cNvPr id="31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004853" y="3411261"/>
            <a:ext cx="419527" cy="419527"/>
          </a:xfrm>
          <a:prstGeom prst="rect">
            <a:avLst/>
          </a:prstGeom>
        </p:spPr>
      </p:pic>
      <p:sp>
        <p:nvSpPr>
          <p:cNvPr id="32" name="Text 24"/>
          <p:cNvSpPr txBox="1"/>
          <p:nvPr/>
        </p:nvSpPr>
        <p:spPr>
          <a:xfrm>
            <a:off x="6016752" y="4023360"/>
            <a:ext cx="23957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50" b="1" dirty="0">
                <a:solidFill>
                  <a:srgbClr val="1C0F0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Notifications</a:t>
            </a:r>
            <a:endParaRPr lang="en-US" sz="1550" dirty="0"/>
          </a:p>
        </p:txBody>
      </p:sp>
      <p:sp>
        <p:nvSpPr>
          <p:cNvPr id="33" name="Text 25"/>
          <p:cNvSpPr txBox="1"/>
          <p:nvPr/>
        </p:nvSpPr>
        <p:spPr>
          <a:xfrm>
            <a:off x="6016752" y="4315968"/>
            <a:ext cx="23957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7A5535"/>
                </a:solidFill>
              </a:rPr>
              <a:t>ማሳወቂያዎች</a:t>
            </a:r>
            <a:endParaRPr lang="en-US" sz="12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274320"/>
            <a:ext cx="81381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1C0F0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Stay in the Loop</a:t>
            </a:r>
            <a:endParaRPr lang="en-US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502920" y="841248"/>
            <a:ext cx="8138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900" dirty="0">
                <a:solidFill>
                  <a:srgbClr val="7A5535"/>
                </a:solidFill>
              </a:rPr>
              <a:t>ዜናዎችን ይከታተሉ</a:t>
            </a:r>
            <a:endParaRPr lang="en-US" sz="1900" dirty="0"/>
          </a:p>
        </p:txBody>
      </p:sp>
      <p:sp>
        <p:nvSpPr>
          <p:cNvPr id="4" name="Shape 2"/>
          <p:cNvSpPr/>
          <p:nvPr/>
        </p:nvSpPr>
        <p:spPr>
          <a:xfrm>
            <a:off x="502920" y="1426464"/>
            <a:ext cx="3931920" cy="3017520"/>
          </a:xfrm>
          <a:prstGeom prst="roundRect">
            <a:avLst>
              <a:gd name="adj" fmla="val 3333"/>
            </a:avLst>
          </a:prstGeom>
          <a:solidFill>
            <a:srgbClr val="1C0F07"/>
          </a:solidFill>
          <a:ln w="15875">
            <a:solidFill>
              <a:srgbClr val="C9A84C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066544" y="1645920"/>
            <a:ext cx="804672" cy="804672"/>
          </a:xfrm>
          <a:prstGeom prst="ellipse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219432" y="1798808"/>
            <a:ext cx="498897" cy="498897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594360" y="2542032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Announcements</a:t>
            </a:r>
            <a:endParaRPr lang="en-US" sz="1800" dirty="0"/>
          </a:p>
        </p:txBody>
      </p:sp>
      <p:sp>
        <p:nvSpPr>
          <p:cNvPr id="8" name="Text 5"/>
          <p:cNvSpPr txBox="1"/>
          <p:nvPr/>
        </p:nvSpPr>
        <p:spPr>
          <a:xfrm>
            <a:off x="594360" y="2907792"/>
            <a:ext cx="3749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AF7F0"/>
                </a:solidFill>
              </a:rPr>
              <a:t>ማስታወቂያዎች</a:t>
            </a:r>
            <a:endParaRPr lang="en-US" sz="1400" dirty="0"/>
          </a:p>
        </p:txBody>
      </p:sp>
      <p:sp>
        <p:nvSpPr>
          <p:cNvPr id="9" name="Text 6"/>
          <p:cNvSpPr txBox="1"/>
          <p:nvPr/>
        </p:nvSpPr>
        <p:spPr>
          <a:xfrm>
            <a:off x="886968" y="3328416"/>
            <a:ext cx="3291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FAF7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Posted by leaders</a:t>
            </a:r>
            <a:endParaRPr lang="en-US" sz="1350" dirty="0"/>
          </a:p>
        </p:txBody>
      </p:sp>
      <p:sp>
        <p:nvSpPr>
          <p:cNvPr id="10" name="Text 7"/>
          <p:cNvSpPr txBox="1"/>
          <p:nvPr/>
        </p:nvSpPr>
        <p:spPr>
          <a:xfrm>
            <a:off x="886968" y="3694176"/>
            <a:ext cx="3291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FAF7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Prayer and praise</a:t>
            </a:r>
            <a:endParaRPr lang="en-US" sz="1350" dirty="0"/>
          </a:p>
        </p:txBody>
      </p:sp>
      <p:sp>
        <p:nvSpPr>
          <p:cNvPr id="11" name="Text 8"/>
          <p:cNvSpPr txBox="1"/>
          <p:nvPr/>
        </p:nvSpPr>
        <p:spPr>
          <a:xfrm>
            <a:off x="886968" y="4059936"/>
            <a:ext cx="3291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FAF7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Reaches you at once</a:t>
            </a:r>
            <a:endParaRPr lang="en-US" sz="1350" dirty="0"/>
          </a:p>
        </p:txBody>
      </p:sp>
      <p:sp>
        <p:nvSpPr>
          <p:cNvPr id="12" name="Shape 9"/>
          <p:cNvSpPr/>
          <p:nvPr/>
        </p:nvSpPr>
        <p:spPr>
          <a:xfrm>
            <a:off x="4709160" y="1426464"/>
            <a:ext cx="3931920" cy="3017520"/>
          </a:xfrm>
          <a:prstGeom prst="roundRect">
            <a:avLst>
              <a:gd name="adj" fmla="val 3333"/>
            </a:avLst>
          </a:prstGeom>
          <a:solidFill>
            <a:srgbClr val="1C0F07"/>
          </a:solidFill>
          <a:ln w="15875">
            <a:solidFill>
              <a:srgbClr val="C9A84C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6272784" y="1645920"/>
            <a:ext cx="804672" cy="804672"/>
          </a:xfrm>
          <a:prstGeom prst="ellipse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25672" y="1798808"/>
            <a:ext cx="498897" cy="498897"/>
          </a:xfrm>
          <a:prstGeom prst="rect">
            <a:avLst/>
          </a:prstGeom>
        </p:spPr>
      </p:pic>
      <p:sp>
        <p:nvSpPr>
          <p:cNvPr id="15" name="Text 11"/>
          <p:cNvSpPr txBox="1"/>
          <p:nvPr/>
        </p:nvSpPr>
        <p:spPr>
          <a:xfrm>
            <a:off x="4800600" y="2542032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Events</a:t>
            </a:r>
            <a:endParaRPr lang="en-US" sz="1800" dirty="0"/>
          </a:p>
        </p:txBody>
      </p:sp>
      <p:sp>
        <p:nvSpPr>
          <p:cNvPr id="16" name="Text 12"/>
          <p:cNvSpPr txBox="1"/>
          <p:nvPr/>
        </p:nvSpPr>
        <p:spPr>
          <a:xfrm>
            <a:off x="4800600" y="2907792"/>
            <a:ext cx="3749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AF7F0"/>
                </a:solidFill>
              </a:rPr>
              <a:t>ዝግጅቶች</a:t>
            </a:r>
            <a:endParaRPr lang="en-US" sz="1400" dirty="0"/>
          </a:p>
        </p:txBody>
      </p:sp>
      <p:sp>
        <p:nvSpPr>
          <p:cNvPr id="17" name="Text 13"/>
          <p:cNvSpPr txBox="1"/>
          <p:nvPr/>
        </p:nvSpPr>
        <p:spPr>
          <a:xfrm>
            <a:off x="5093208" y="3328416"/>
            <a:ext cx="3291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FAF7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Each has its own page</a:t>
            </a:r>
            <a:endParaRPr lang="en-US" sz="1350" dirty="0"/>
          </a:p>
        </p:txBody>
      </p:sp>
      <p:sp>
        <p:nvSpPr>
          <p:cNvPr id="18" name="Text 14"/>
          <p:cNvSpPr txBox="1"/>
          <p:nvPr/>
        </p:nvSpPr>
        <p:spPr>
          <a:xfrm>
            <a:off x="5093208" y="3694176"/>
            <a:ext cx="3291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FAF7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Photos and video</a:t>
            </a:r>
            <a:endParaRPr lang="en-US" sz="1350" dirty="0"/>
          </a:p>
        </p:txBody>
      </p:sp>
      <p:sp>
        <p:nvSpPr>
          <p:cNvPr id="19" name="Text 15"/>
          <p:cNvSpPr txBox="1"/>
          <p:nvPr/>
        </p:nvSpPr>
        <p:spPr>
          <a:xfrm>
            <a:off x="5093208" y="4059936"/>
            <a:ext cx="3291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FAF7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Reminder the day before</a:t>
            </a:r>
            <a:endParaRPr lang="en-US" sz="13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C0F0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C9A8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BUS Groups</a:t>
            </a:r>
            <a:endParaRPr lang="en-US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841248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dirty="0">
                <a:solidFill>
                  <a:srgbClr val="FAF7F0"/>
                </a:solidFill>
              </a:rPr>
              <a:t>BUS ቡድኖች</a:t>
            </a:r>
            <a:endParaRPr lang="en-US" sz="1900" dirty="0"/>
          </a:p>
        </p:txBody>
      </p:sp>
      <p:sp>
        <p:nvSpPr>
          <p:cNvPr id="4" name="Shape 2"/>
          <p:cNvSpPr/>
          <p:nvPr/>
        </p:nvSpPr>
        <p:spPr>
          <a:xfrm>
            <a:off x="475488" y="1664208"/>
            <a:ext cx="2606040" cy="2697480"/>
          </a:xfrm>
          <a:prstGeom prst="roundRect">
            <a:avLst>
              <a:gd name="adj" fmla="val 3509"/>
            </a:avLst>
          </a:prstGeom>
          <a:solidFill>
            <a:srgbClr val="2B1508"/>
          </a:solidFill>
          <a:ln w="15875">
            <a:solidFill>
              <a:srgbClr val="C9A84C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376172" y="1901952"/>
            <a:ext cx="804672" cy="804672"/>
          </a:xfrm>
          <a:prstGeom prst="ellipse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29060" y="2054840"/>
            <a:ext cx="498897" cy="498897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548640" y="2816352"/>
            <a:ext cx="245973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 Chat</a:t>
            </a:r>
            <a:endParaRPr lang="en-US" sz="1700" dirty="0"/>
          </a:p>
        </p:txBody>
      </p:sp>
      <p:sp>
        <p:nvSpPr>
          <p:cNvPr id="8" name="Text 5"/>
          <p:cNvSpPr txBox="1"/>
          <p:nvPr/>
        </p:nvSpPr>
        <p:spPr>
          <a:xfrm>
            <a:off x="548640" y="3163824"/>
            <a:ext cx="245973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AF7F0"/>
                </a:solidFill>
              </a:rPr>
              <a:t>የቡድን ውይይት</a:t>
            </a:r>
            <a:endParaRPr lang="en-US" sz="1400" dirty="0"/>
          </a:p>
        </p:txBody>
      </p:sp>
      <p:sp>
        <p:nvSpPr>
          <p:cNvPr id="9" name="Text 6"/>
          <p:cNvSpPr txBox="1"/>
          <p:nvPr/>
        </p:nvSpPr>
        <p:spPr>
          <a:xfrm>
            <a:off x="603504" y="3529584"/>
            <a:ext cx="235000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dirty="0">
                <a:solidFill>
                  <a:srgbClr val="EDD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private room for your group</a:t>
            </a:r>
            <a:endParaRPr lang="en-US" sz="1350" dirty="0"/>
          </a:p>
        </p:txBody>
      </p:sp>
      <p:sp>
        <p:nvSpPr>
          <p:cNvPr id="10" name="Shape 7"/>
          <p:cNvSpPr/>
          <p:nvPr/>
        </p:nvSpPr>
        <p:spPr>
          <a:xfrm>
            <a:off x="3255264" y="1664208"/>
            <a:ext cx="2606040" cy="2697480"/>
          </a:xfrm>
          <a:prstGeom prst="roundRect">
            <a:avLst>
              <a:gd name="adj" fmla="val 3509"/>
            </a:avLst>
          </a:prstGeom>
          <a:solidFill>
            <a:srgbClr val="2B1508"/>
          </a:solidFill>
          <a:ln w="15875">
            <a:solidFill>
              <a:srgbClr val="C9A84C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4155948" y="1901952"/>
            <a:ext cx="804672" cy="804672"/>
          </a:xfrm>
          <a:prstGeom prst="ellipse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08836" y="2054840"/>
            <a:ext cx="498897" cy="498897"/>
          </a:xfrm>
          <a:prstGeom prst="rect">
            <a:avLst/>
          </a:prstGeom>
        </p:spPr>
      </p:pic>
      <p:sp>
        <p:nvSpPr>
          <p:cNvPr id="13" name="Text 9"/>
          <p:cNvSpPr txBox="1"/>
          <p:nvPr/>
        </p:nvSpPr>
        <p:spPr>
          <a:xfrm>
            <a:off x="3328416" y="2816352"/>
            <a:ext cx="245973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Video Meetings</a:t>
            </a:r>
            <a:endParaRPr lang="en-US" sz="1700" dirty="0"/>
          </a:p>
        </p:txBody>
      </p:sp>
      <p:sp>
        <p:nvSpPr>
          <p:cNvPr id="14" name="Text 10"/>
          <p:cNvSpPr txBox="1"/>
          <p:nvPr/>
        </p:nvSpPr>
        <p:spPr>
          <a:xfrm>
            <a:off x="3328416" y="3163824"/>
            <a:ext cx="245973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AF7F0"/>
                </a:solidFill>
              </a:rPr>
              <a:t>ቪዲዮ ስብሰባ</a:t>
            </a:r>
            <a:endParaRPr lang="en-US" sz="1400" dirty="0"/>
          </a:p>
        </p:txBody>
      </p:sp>
      <p:sp>
        <p:nvSpPr>
          <p:cNvPr id="15" name="Text 11"/>
          <p:cNvSpPr txBox="1"/>
          <p:nvPr/>
        </p:nvSpPr>
        <p:spPr>
          <a:xfrm>
            <a:off x="3383280" y="3529584"/>
            <a:ext cx="235000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dirty="0">
                <a:solidFill>
                  <a:srgbClr val="EDD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tap to meet from anywhere</a:t>
            </a:r>
            <a:endParaRPr lang="en-US" sz="1350" dirty="0"/>
          </a:p>
        </p:txBody>
      </p:sp>
      <p:sp>
        <p:nvSpPr>
          <p:cNvPr id="16" name="Shape 12"/>
          <p:cNvSpPr/>
          <p:nvPr/>
        </p:nvSpPr>
        <p:spPr>
          <a:xfrm>
            <a:off x="6035040" y="1664208"/>
            <a:ext cx="2606040" cy="2697480"/>
          </a:xfrm>
          <a:prstGeom prst="roundRect">
            <a:avLst>
              <a:gd name="adj" fmla="val 3509"/>
            </a:avLst>
          </a:prstGeom>
          <a:solidFill>
            <a:srgbClr val="2B1508"/>
          </a:solidFill>
          <a:ln w="15875">
            <a:solidFill>
              <a:srgbClr val="C9A84C"/>
            </a:solidFill>
            <a:prstDash val="solid"/>
          </a:ln>
        </p:spPr>
      </p:sp>
      <p:sp>
        <p:nvSpPr>
          <p:cNvPr id="17" name="Shape 13"/>
          <p:cNvSpPr/>
          <p:nvPr/>
        </p:nvSpPr>
        <p:spPr>
          <a:xfrm>
            <a:off x="6935724" y="1901952"/>
            <a:ext cx="804672" cy="804672"/>
          </a:xfrm>
          <a:prstGeom prst="ellipse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88612" y="2054840"/>
            <a:ext cx="498897" cy="498897"/>
          </a:xfrm>
          <a:prstGeom prst="rect">
            <a:avLst/>
          </a:prstGeom>
        </p:spPr>
      </p:pic>
      <p:sp>
        <p:nvSpPr>
          <p:cNvPr id="19" name="Text 14"/>
          <p:cNvSpPr txBox="1"/>
          <p:nvPr/>
        </p:nvSpPr>
        <p:spPr>
          <a:xfrm>
            <a:off x="6108192" y="2816352"/>
            <a:ext cx="245973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Shared Tasks</a:t>
            </a:r>
            <a:endParaRPr lang="en-US" sz="1700" dirty="0"/>
          </a:p>
        </p:txBody>
      </p:sp>
      <p:sp>
        <p:nvSpPr>
          <p:cNvPr id="20" name="Text 15"/>
          <p:cNvSpPr txBox="1"/>
          <p:nvPr/>
        </p:nvSpPr>
        <p:spPr>
          <a:xfrm>
            <a:off x="6108192" y="3163824"/>
            <a:ext cx="245973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AF7F0"/>
                </a:solidFill>
              </a:rPr>
              <a:t>የጋራ ተግባሮች</a:t>
            </a:r>
            <a:endParaRPr lang="en-US" sz="1400" dirty="0"/>
          </a:p>
        </p:txBody>
      </p:sp>
      <p:sp>
        <p:nvSpPr>
          <p:cNvPr id="21" name="Text 16"/>
          <p:cNvSpPr txBox="1"/>
          <p:nvPr/>
        </p:nvSpPr>
        <p:spPr>
          <a:xfrm>
            <a:off x="6163056" y="3529584"/>
            <a:ext cx="235000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dirty="0">
                <a:solidFill>
                  <a:srgbClr val="EDD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Agree who does what, together</a:t>
            </a:r>
            <a:endParaRPr lang="en-US" sz="13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274320"/>
            <a:ext cx="81381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1C0F0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Serving Teams</a:t>
            </a:r>
            <a:endParaRPr lang="en-US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502920" y="841248"/>
            <a:ext cx="8138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900" dirty="0">
                <a:solidFill>
                  <a:srgbClr val="7A5535"/>
                </a:solidFill>
              </a:rPr>
              <a:t>የአገልግሎት ቡድኖች</a:t>
            </a:r>
            <a:endParaRPr lang="en-US" sz="1900" dirty="0"/>
          </a:p>
        </p:txBody>
      </p:sp>
      <p:sp>
        <p:nvSpPr>
          <p:cNvPr id="4" name="Shape 2"/>
          <p:cNvSpPr/>
          <p:nvPr/>
        </p:nvSpPr>
        <p:spPr>
          <a:xfrm>
            <a:off x="763524" y="1389888"/>
            <a:ext cx="731520" cy="731520"/>
          </a:xfrm>
          <a:prstGeom prst="ellipse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02513" y="1528877"/>
            <a:ext cx="453542" cy="453542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402336" y="2231136"/>
            <a:ext cx="145389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C0F0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Worship</a:t>
            </a:r>
            <a:endParaRPr lang="en-US" sz="1350" dirty="0"/>
          </a:p>
        </p:txBody>
      </p:sp>
      <p:sp>
        <p:nvSpPr>
          <p:cNvPr id="7" name="Text 4"/>
          <p:cNvSpPr txBox="1"/>
          <p:nvPr/>
        </p:nvSpPr>
        <p:spPr>
          <a:xfrm>
            <a:off x="402336" y="2523744"/>
            <a:ext cx="14538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7A5535"/>
                </a:solidFill>
              </a:rPr>
              <a:t>አምልኮ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2144268" y="1389888"/>
            <a:ext cx="731520" cy="731520"/>
          </a:xfrm>
          <a:prstGeom prst="ellipse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3257" y="1528877"/>
            <a:ext cx="453542" cy="453542"/>
          </a:xfrm>
          <a:prstGeom prst="rect">
            <a:avLst/>
          </a:prstGeom>
        </p:spPr>
      </p:pic>
      <p:sp>
        <p:nvSpPr>
          <p:cNvPr id="10" name="Text 6"/>
          <p:cNvSpPr txBox="1"/>
          <p:nvPr/>
        </p:nvSpPr>
        <p:spPr>
          <a:xfrm>
            <a:off x="1783080" y="2231136"/>
            <a:ext cx="145389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C0F0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Prayer</a:t>
            </a:r>
            <a:endParaRPr lang="en-US" sz="1350" dirty="0"/>
          </a:p>
        </p:txBody>
      </p:sp>
      <p:sp>
        <p:nvSpPr>
          <p:cNvPr id="11" name="Text 7"/>
          <p:cNvSpPr txBox="1"/>
          <p:nvPr/>
        </p:nvSpPr>
        <p:spPr>
          <a:xfrm>
            <a:off x="1783080" y="2523744"/>
            <a:ext cx="14538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7A5535"/>
                </a:solidFill>
              </a:rPr>
              <a:t>ጸሎት</a:t>
            </a:r>
            <a:endParaRPr lang="en-US" sz="1200" dirty="0"/>
          </a:p>
        </p:txBody>
      </p:sp>
      <p:sp>
        <p:nvSpPr>
          <p:cNvPr id="12" name="Shape 8"/>
          <p:cNvSpPr/>
          <p:nvPr/>
        </p:nvSpPr>
        <p:spPr>
          <a:xfrm>
            <a:off x="3525012" y="1389888"/>
            <a:ext cx="731520" cy="731520"/>
          </a:xfrm>
          <a:prstGeom prst="ellipse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64001" y="1528877"/>
            <a:ext cx="453542" cy="453542"/>
          </a:xfrm>
          <a:prstGeom prst="rect">
            <a:avLst/>
          </a:prstGeom>
        </p:spPr>
      </p:pic>
      <p:sp>
        <p:nvSpPr>
          <p:cNvPr id="14" name="Text 9"/>
          <p:cNvSpPr txBox="1"/>
          <p:nvPr/>
        </p:nvSpPr>
        <p:spPr>
          <a:xfrm>
            <a:off x="3163824" y="2231136"/>
            <a:ext cx="145389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C0F0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Evangelism</a:t>
            </a:r>
            <a:endParaRPr lang="en-US" sz="1350" dirty="0"/>
          </a:p>
        </p:txBody>
      </p:sp>
      <p:sp>
        <p:nvSpPr>
          <p:cNvPr id="15" name="Text 10"/>
          <p:cNvSpPr txBox="1"/>
          <p:nvPr/>
        </p:nvSpPr>
        <p:spPr>
          <a:xfrm>
            <a:off x="3163824" y="2523744"/>
            <a:ext cx="14538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7A5535"/>
                </a:solidFill>
              </a:rPr>
              <a:t>ወንጌል ስርጭት</a:t>
            </a:r>
            <a:endParaRPr lang="en-US" sz="1200" dirty="0"/>
          </a:p>
        </p:txBody>
      </p:sp>
      <p:sp>
        <p:nvSpPr>
          <p:cNvPr id="16" name="Shape 11"/>
          <p:cNvSpPr/>
          <p:nvPr/>
        </p:nvSpPr>
        <p:spPr>
          <a:xfrm>
            <a:off x="4905756" y="1389888"/>
            <a:ext cx="731520" cy="731520"/>
          </a:xfrm>
          <a:prstGeom prst="ellipse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pic>
        <p:nvPicPr>
          <p:cNvPr id="17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44745" y="1528877"/>
            <a:ext cx="453542" cy="453542"/>
          </a:xfrm>
          <a:prstGeom prst="rect">
            <a:avLst/>
          </a:prstGeom>
        </p:spPr>
      </p:pic>
      <p:sp>
        <p:nvSpPr>
          <p:cNvPr id="18" name="Text 12"/>
          <p:cNvSpPr txBox="1"/>
          <p:nvPr/>
        </p:nvSpPr>
        <p:spPr>
          <a:xfrm>
            <a:off x="4544568" y="2231136"/>
            <a:ext cx="145389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C0F0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Social Affairs</a:t>
            </a:r>
            <a:endParaRPr lang="en-US" sz="1350" dirty="0"/>
          </a:p>
        </p:txBody>
      </p:sp>
      <p:sp>
        <p:nvSpPr>
          <p:cNvPr id="19" name="Text 13"/>
          <p:cNvSpPr txBox="1"/>
          <p:nvPr/>
        </p:nvSpPr>
        <p:spPr>
          <a:xfrm>
            <a:off x="4544568" y="2523744"/>
            <a:ext cx="14538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7A5535"/>
                </a:solidFill>
              </a:rPr>
              <a:t>ማህበራዊ ጉዳይ</a:t>
            </a:r>
            <a:endParaRPr lang="en-US" sz="1200" dirty="0"/>
          </a:p>
        </p:txBody>
      </p:sp>
      <p:sp>
        <p:nvSpPr>
          <p:cNvPr id="20" name="Shape 14"/>
          <p:cNvSpPr/>
          <p:nvPr/>
        </p:nvSpPr>
        <p:spPr>
          <a:xfrm>
            <a:off x="6286500" y="1389888"/>
            <a:ext cx="731520" cy="731520"/>
          </a:xfrm>
          <a:prstGeom prst="ellipse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pic>
        <p:nvPicPr>
          <p:cNvPr id="21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25489" y="1528877"/>
            <a:ext cx="453542" cy="453542"/>
          </a:xfrm>
          <a:prstGeom prst="rect">
            <a:avLst/>
          </a:prstGeom>
        </p:spPr>
      </p:pic>
      <p:sp>
        <p:nvSpPr>
          <p:cNvPr id="22" name="Text 15"/>
          <p:cNvSpPr txBox="1"/>
          <p:nvPr/>
        </p:nvSpPr>
        <p:spPr>
          <a:xfrm>
            <a:off x="5925312" y="2231136"/>
            <a:ext cx="145389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C0F0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Social Media</a:t>
            </a:r>
            <a:endParaRPr lang="en-US" sz="1350" dirty="0"/>
          </a:p>
        </p:txBody>
      </p:sp>
      <p:sp>
        <p:nvSpPr>
          <p:cNvPr id="23" name="Text 16"/>
          <p:cNvSpPr txBox="1"/>
          <p:nvPr/>
        </p:nvSpPr>
        <p:spPr>
          <a:xfrm>
            <a:off x="5925312" y="2523744"/>
            <a:ext cx="14538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7A5535"/>
                </a:solidFill>
              </a:rPr>
              <a:t>ሶሻል ሚዲያ</a:t>
            </a:r>
            <a:endParaRPr lang="en-US" sz="1200" dirty="0"/>
          </a:p>
        </p:txBody>
      </p:sp>
      <p:sp>
        <p:nvSpPr>
          <p:cNvPr id="24" name="Shape 17"/>
          <p:cNvSpPr/>
          <p:nvPr/>
        </p:nvSpPr>
        <p:spPr>
          <a:xfrm>
            <a:off x="7667244" y="1389888"/>
            <a:ext cx="731520" cy="731520"/>
          </a:xfrm>
          <a:prstGeom prst="ellipse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pic>
        <p:nvPicPr>
          <p:cNvPr id="25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806233" y="1528877"/>
            <a:ext cx="453542" cy="453542"/>
          </a:xfrm>
          <a:prstGeom prst="rect">
            <a:avLst/>
          </a:prstGeom>
        </p:spPr>
      </p:pic>
      <p:sp>
        <p:nvSpPr>
          <p:cNvPr id="26" name="Text 18"/>
          <p:cNvSpPr txBox="1"/>
          <p:nvPr/>
        </p:nvSpPr>
        <p:spPr>
          <a:xfrm>
            <a:off x="7306056" y="2231136"/>
            <a:ext cx="145389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C0F0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Library</a:t>
            </a:r>
            <a:endParaRPr lang="en-US" sz="1350" dirty="0"/>
          </a:p>
        </p:txBody>
      </p:sp>
      <p:sp>
        <p:nvSpPr>
          <p:cNvPr id="27" name="Text 19"/>
          <p:cNvSpPr txBox="1"/>
          <p:nvPr/>
        </p:nvSpPr>
        <p:spPr>
          <a:xfrm>
            <a:off x="7306056" y="2523744"/>
            <a:ext cx="14538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7A5535"/>
                </a:solidFill>
              </a:rPr>
              <a:t>ቤተ-መጻሕፍት</a:t>
            </a:r>
            <a:endParaRPr lang="en-US" sz="1200" dirty="0"/>
          </a:p>
        </p:txBody>
      </p:sp>
      <p:sp>
        <p:nvSpPr>
          <p:cNvPr id="28" name="Shape 20"/>
          <p:cNvSpPr/>
          <p:nvPr/>
        </p:nvSpPr>
        <p:spPr>
          <a:xfrm>
            <a:off x="475488" y="3017520"/>
            <a:ext cx="2596896" cy="1572768"/>
          </a:xfrm>
          <a:prstGeom prst="roundRect">
            <a:avLst>
              <a:gd name="adj" fmla="val 6395"/>
            </a:avLst>
          </a:prstGeom>
          <a:solidFill>
            <a:srgbClr val="FFFFFF"/>
          </a:solidFill>
          <a:ln w="19050">
            <a:solidFill>
              <a:srgbClr val="C9A84C"/>
            </a:solidFill>
            <a:prstDash val="solid"/>
          </a:ln>
          <a:effectLst>
            <a:outerShdw sx="100000" sy="100000" kx="0" ky="0" algn="bl" rotWithShape="0" blurRad="101600" dist="38100" dir="2700000">
              <a:srgbClr val="C0B4A4">
                <a:alpha val="35000"/>
              </a:srgbClr>
            </a:outerShdw>
          </a:effectLst>
        </p:spPr>
      </p:sp>
      <p:sp>
        <p:nvSpPr>
          <p:cNvPr id="29" name="Shape 21"/>
          <p:cNvSpPr/>
          <p:nvPr/>
        </p:nvSpPr>
        <p:spPr>
          <a:xfrm>
            <a:off x="658368" y="3218688"/>
            <a:ext cx="566928" cy="566928"/>
          </a:xfrm>
          <a:prstGeom prst="ellipse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pic>
        <p:nvPicPr>
          <p:cNvPr id="30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66084" y="3326404"/>
            <a:ext cx="351495" cy="351495"/>
          </a:xfrm>
          <a:prstGeom prst="rect">
            <a:avLst/>
          </a:prstGeom>
        </p:spPr>
      </p:pic>
      <p:sp>
        <p:nvSpPr>
          <p:cNvPr id="31" name="Text 22"/>
          <p:cNvSpPr txBox="1"/>
          <p:nvPr/>
        </p:nvSpPr>
        <p:spPr>
          <a:xfrm>
            <a:off x="1389888" y="3291840"/>
            <a:ext cx="16093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C0F0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Its own chat</a:t>
            </a:r>
            <a:endParaRPr lang="en-US" sz="1450" dirty="0"/>
          </a:p>
        </p:txBody>
      </p:sp>
      <p:sp>
        <p:nvSpPr>
          <p:cNvPr id="32" name="Text 23"/>
          <p:cNvSpPr txBox="1"/>
          <p:nvPr/>
        </p:nvSpPr>
        <p:spPr>
          <a:xfrm>
            <a:off x="640080" y="3886200"/>
            <a:ext cx="22860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D23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Talk without crowding the main group</a:t>
            </a:r>
            <a:endParaRPr lang="en-US" sz="1300" dirty="0"/>
          </a:p>
        </p:txBody>
      </p:sp>
      <p:sp>
        <p:nvSpPr>
          <p:cNvPr id="33" name="Shape 24"/>
          <p:cNvSpPr/>
          <p:nvPr/>
        </p:nvSpPr>
        <p:spPr>
          <a:xfrm>
            <a:off x="3236976" y="3017520"/>
            <a:ext cx="2596896" cy="1572768"/>
          </a:xfrm>
          <a:prstGeom prst="roundRect">
            <a:avLst>
              <a:gd name="adj" fmla="val 6395"/>
            </a:avLst>
          </a:prstGeom>
          <a:solidFill>
            <a:srgbClr val="FFFFFF"/>
          </a:solidFill>
          <a:ln w="19050">
            <a:solidFill>
              <a:srgbClr val="C9A84C"/>
            </a:solidFill>
            <a:prstDash val="solid"/>
          </a:ln>
          <a:effectLst>
            <a:outerShdw sx="100000" sy="100000" kx="0" ky="0" algn="bl" rotWithShape="0" blurRad="101600" dist="38100" dir="2700000">
              <a:srgbClr val="C0B4A4">
                <a:alpha val="35000"/>
              </a:srgbClr>
            </a:outerShdw>
          </a:effectLst>
        </p:spPr>
      </p:sp>
      <p:sp>
        <p:nvSpPr>
          <p:cNvPr id="34" name="Shape 25"/>
          <p:cNvSpPr/>
          <p:nvPr/>
        </p:nvSpPr>
        <p:spPr>
          <a:xfrm>
            <a:off x="3419856" y="3218688"/>
            <a:ext cx="566928" cy="566928"/>
          </a:xfrm>
          <a:prstGeom prst="ellipse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pic>
        <p:nvPicPr>
          <p:cNvPr id="35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527572" y="3326404"/>
            <a:ext cx="351495" cy="351495"/>
          </a:xfrm>
          <a:prstGeom prst="rect">
            <a:avLst/>
          </a:prstGeom>
        </p:spPr>
      </p:pic>
      <p:sp>
        <p:nvSpPr>
          <p:cNvPr id="36" name="Text 26"/>
          <p:cNvSpPr txBox="1"/>
          <p:nvPr/>
        </p:nvSpPr>
        <p:spPr>
          <a:xfrm>
            <a:off x="4151376" y="3291840"/>
            <a:ext cx="16093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C0F0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Video meetings</a:t>
            </a:r>
            <a:endParaRPr lang="en-US" sz="1450" dirty="0"/>
          </a:p>
        </p:txBody>
      </p:sp>
      <p:sp>
        <p:nvSpPr>
          <p:cNvPr id="37" name="Text 27"/>
          <p:cNvSpPr txBox="1"/>
          <p:nvPr/>
        </p:nvSpPr>
        <p:spPr>
          <a:xfrm>
            <a:off x="3401568" y="3886200"/>
            <a:ext cx="22860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D23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 without everyone travelling</a:t>
            </a:r>
            <a:endParaRPr lang="en-US" sz="1300" dirty="0"/>
          </a:p>
        </p:txBody>
      </p:sp>
      <p:sp>
        <p:nvSpPr>
          <p:cNvPr id="38" name="Shape 28"/>
          <p:cNvSpPr/>
          <p:nvPr/>
        </p:nvSpPr>
        <p:spPr>
          <a:xfrm>
            <a:off x="5998464" y="3017520"/>
            <a:ext cx="2596896" cy="1572768"/>
          </a:xfrm>
          <a:prstGeom prst="roundRect">
            <a:avLst>
              <a:gd name="adj" fmla="val 6395"/>
            </a:avLst>
          </a:prstGeom>
          <a:solidFill>
            <a:srgbClr val="FFFFFF"/>
          </a:solidFill>
          <a:ln w="19050">
            <a:solidFill>
              <a:srgbClr val="C9A84C"/>
            </a:solidFill>
            <a:prstDash val="solid"/>
          </a:ln>
          <a:effectLst>
            <a:outerShdw sx="100000" sy="100000" kx="0" ky="0" algn="bl" rotWithShape="0" blurRad="101600" dist="38100" dir="2700000">
              <a:srgbClr val="C0B4A4">
                <a:alpha val="35000"/>
              </a:srgbClr>
            </a:outerShdw>
          </a:effectLst>
        </p:spPr>
      </p:sp>
      <p:sp>
        <p:nvSpPr>
          <p:cNvPr id="39" name="Shape 29"/>
          <p:cNvSpPr/>
          <p:nvPr/>
        </p:nvSpPr>
        <p:spPr>
          <a:xfrm>
            <a:off x="6181344" y="3218688"/>
            <a:ext cx="566928" cy="566928"/>
          </a:xfrm>
          <a:prstGeom prst="ellipse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pic>
        <p:nvPicPr>
          <p:cNvPr id="40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289060" y="3326404"/>
            <a:ext cx="351495" cy="351495"/>
          </a:xfrm>
          <a:prstGeom prst="rect">
            <a:avLst/>
          </a:prstGeom>
        </p:spPr>
      </p:pic>
      <p:sp>
        <p:nvSpPr>
          <p:cNvPr id="41" name="Text 30"/>
          <p:cNvSpPr txBox="1"/>
          <p:nvPr/>
        </p:nvSpPr>
        <p:spPr>
          <a:xfrm>
            <a:off x="6912864" y="3291840"/>
            <a:ext cx="16093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C0F0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Shared files</a:t>
            </a:r>
            <a:endParaRPr lang="en-US" sz="1450" dirty="0"/>
          </a:p>
        </p:txBody>
      </p:sp>
      <p:sp>
        <p:nvSpPr>
          <p:cNvPr id="42" name="Text 31"/>
          <p:cNvSpPr txBox="1"/>
          <p:nvPr/>
        </p:nvSpPr>
        <p:spPr>
          <a:xfrm>
            <a:off x="6163056" y="3886200"/>
            <a:ext cx="22860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D23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Song lists and rotas in one place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C0F0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274320"/>
            <a:ext cx="81381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C9A8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Our Library Opens Today</a:t>
            </a:r>
            <a:endParaRPr lang="en-US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502920" y="841248"/>
            <a:ext cx="8138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900" dirty="0">
                <a:solidFill>
                  <a:srgbClr val="FAF7F0"/>
                </a:solidFill>
              </a:rPr>
              <a:t>ቤተ-መጻሕፍታችን ዛሬ ይከፈታል</a:t>
            </a:r>
            <a:endParaRPr lang="en-US" sz="1900" dirty="0"/>
          </a:p>
        </p:txBody>
      </p:sp>
      <p:sp>
        <p:nvSpPr>
          <p:cNvPr id="4" name="Text 2"/>
          <p:cNvSpPr txBox="1"/>
          <p:nvPr/>
        </p:nvSpPr>
        <p:spPr>
          <a:xfrm>
            <a:off x="502920" y="1243584"/>
            <a:ext cx="81381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EDD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Christian books to borrow — free for every member.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425196" y="1737360"/>
            <a:ext cx="1956816" cy="2377440"/>
          </a:xfrm>
          <a:prstGeom prst="roundRect">
            <a:avLst>
              <a:gd name="adj" fmla="val 4673"/>
            </a:avLst>
          </a:prstGeom>
          <a:solidFill>
            <a:srgbClr val="2B1508"/>
          </a:solidFill>
          <a:ln w="15875">
            <a:solidFill>
              <a:srgbClr val="C9A84C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046988" y="1956816"/>
            <a:ext cx="713232" cy="713232"/>
          </a:xfrm>
          <a:prstGeom prst="ellipse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82502" y="2092330"/>
            <a:ext cx="442204" cy="442204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480060" y="2761488"/>
            <a:ext cx="184708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5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Browse</a:t>
            </a:r>
            <a:endParaRPr lang="en-US" sz="1550" dirty="0"/>
          </a:p>
        </p:txBody>
      </p:sp>
      <p:sp>
        <p:nvSpPr>
          <p:cNvPr id="9" name="Text 6"/>
          <p:cNvSpPr txBox="1"/>
          <p:nvPr/>
        </p:nvSpPr>
        <p:spPr>
          <a:xfrm>
            <a:off x="480060" y="3090672"/>
            <a:ext cx="184708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AF7F0"/>
                </a:solidFill>
              </a:rPr>
              <a:t>ያስሱ</a:t>
            </a:r>
            <a:endParaRPr lang="en-US" sz="1300" dirty="0"/>
          </a:p>
        </p:txBody>
      </p:sp>
      <p:sp>
        <p:nvSpPr>
          <p:cNvPr id="10" name="Text 7"/>
          <p:cNvSpPr txBox="1"/>
          <p:nvPr/>
        </p:nvSpPr>
        <p:spPr>
          <a:xfrm>
            <a:off x="516636" y="3419856"/>
            <a:ext cx="1773936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EDD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See what is on the shelf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2537460" y="1737360"/>
            <a:ext cx="1956816" cy="2377440"/>
          </a:xfrm>
          <a:prstGeom prst="roundRect">
            <a:avLst>
              <a:gd name="adj" fmla="val 4673"/>
            </a:avLst>
          </a:prstGeom>
          <a:solidFill>
            <a:srgbClr val="2B1508"/>
          </a:solidFill>
          <a:ln w="15875">
            <a:solidFill>
              <a:srgbClr val="C9A84C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3159252" y="1956816"/>
            <a:ext cx="713232" cy="713232"/>
          </a:xfrm>
          <a:prstGeom prst="ellipse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94766" y="2092330"/>
            <a:ext cx="442204" cy="442204"/>
          </a:xfrm>
          <a:prstGeom prst="rect">
            <a:avLst/>
          </a:prstGeom>
        </p:spPr>
      </p:pic>
      <p:sp>
        <p:nvSpPr>
          <p:cNvPr id="14" name="Text 10"/>
          <p:cNvSpPr txBox="1"/>
          <p:nvPr/>
        </p:nvSpPr>
        <p:spPr>
          <a:xfrm>
            <a:off x="2592324" y="2761488"/>
            <a:ext cx="184708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5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Reserve</a:t>
            </a:r>
            <a:endParaRPr lang="en-US" sz="1550" dirty="0"/>
          </a:p>
        </p:txBody>
      </p:sp>
      <p:sp>
        <p:nvSpPr>
          <p:cNvPr id="15" name="Text 11"/>
          <p:cNvSpPr txBox="1"/>
          <p:nvPr/>
        </p:nvSpPr>
        <p:spPr>
          <a:xfrm>
            <a:off x="2592324" y="3090672"/>
            <a:ext cx="184708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AF7F0"/>
                </a:solidFill>
              </a:rPr>
              <a:t>ያስይዙ</a:t>
            </a:r>
            <a:endParaRPr lang="en-US" sz="1300" dirty="0"/>
          </a:p>
        </p:txBody>
      </p:sp>
      <p:sp>
        <p:nvSpPr>
          <p:cNvPr id="16" name="Text 12"/>
          <p:cNvSpPr txBox="1"/>
          <p:nvPr/>
        </p:nvSpPr>
        <p:spPr>
          <a:xfrm>
            <a:off x="2628900" y="3419856"/>
            <a:ext cx="1773936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EDD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hold it for you</a:t>
            </a:r>
            <a:endParaRPr lang="en-US" sz="1300" dirty="0"/>
          </a:p>
        </p:txBody>
      </p:sp>
      <p:sp>
        <p:nvSpPr>
          <p:cNvPr id="17" name="Shape 13"/>
          <p:cNvSpPr/>
          <p:nvPr/>
        </p:nvSpPr>
        <p:spPr>
          <a:xfrm>
            <a:off x="4649724" y="1737360"/>
            <a:ext cx="1956816" cy="2377440"/>
          </a:xfrm>
          <a:prstGeom prst="roundRect">
            <a:avLst>
              <a:gd name="adj" fmla="val 4673"/>
            </a:avLst>
          </a:prstGeom>
          <a:solidFill>
            <a:srgbClr val="2B1508"/>
          </a:solidFill>
          <a:ln w="15875">
            <a:solidFill>
              <a:srgbClr val="C9A84C"/>
            </a:solidFill>
            <a:prstDash val="solid"/>
          </a:ln>
        </p:spPr>
      </p:sp>
      <p:sp>
        <p:nvSpPr>
          <p:cNvPr id="18" name="Shape 14"/>
          <p:cNvSpPr/>
          <p:nvPr/>
        </p:nvSpPr>
        <p:spPr>
          <a:xfrm>
            <a:off x="5271516" y="1956816"/>
            <a:ext cx="713232" cy="713232"/>
          </a:xfrm>
          <a:prstGeom prst="ellipse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pic>
        <p:nvPicPr>
          <p:cNvPr id="1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07030" y="2092330"/>
            <a:ext cx="442204" cy="442204"/>
          </a:xfrm>
          <a:prstGeom prst="rect">
            <a:avLst/>
          </a:prstGeom>
        </p:spPr>
      </p:pic>
      <p:sp>
        <p:nvSpPr>
          <p:cNvPr id="20" name="Text 15"/>
          <p:cNvSpPr txBox="1"/>
          <p:nvPr/>
        </p:nvSpPr>
        <p:spPr>
          <a:xfrm>
            <a:off x="4704588" y="2761488"/>
            <a:ext cx="184708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5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Collect</a:t>
            </a:r>
            <a:endParaRPr lang="en-US" sz="1550" dirty="0"/>
          </a:p>
        </p:txBody>
      </p:sp>
      <p:sp>
        <p:nvSpPr>
          <p:cNvPr id="21" name="Text 16"/>
          <p:cNvSpPr txBox="1"/>
          <p:nvPr/>
        </p:nvSpPr>
        <p:spPr>
          <a:xfrm>
            <a:off x="4704588" y="3090672"/>
            <a:ext cx="184708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AF7F0"/>
                </a:solidFill>
              </a:rPr>
              <a:t>ይውሰዱ</a:t>
            </a:r>
            <a:endParaRPr lang="en-US" sz="1300" dirty="0"/>
          </a:p>
        </p:txBody>
      </p:sp>
      <p:sp>
        <p:nvSpPr>
          <p:cNvPr id="22" name="Text 17"/>
          <p:cNvSpPr txBox="1"/>
          <p:nvPr/>
        </p:nvSpPr>
        <p:spPr>
          <a:xfrm>
            <a:off x="4741164" y="3419856"/>
            <a:ext cx="1773936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EDD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Pick it up at fellowship</a:t>
            </a:r>
            <a:endParaRPr lang="en-US" sz="1300" dirty="0"/>
          </a:p>
        </p:txBody>
      </p:sp>
      <p:sp>
        <p:nvSpPr>
          <p:cNvPr id="23" name="Shape 18"/>
          <p:cNvSpPr/>
          <p:nvPr/>
        </p:nvSpPr>
        <p:spPr>
          <a:xfrm>
            <a:off x="6761988" y="1737360"/>
            <a:ext cx="1956816" cy="2377440"/>
          </a:xfrm>
          <a:prstGeom prst="roundRect">
            <a:avLst>
              <a:gd name="adj" fmla="val 4673"/>
            </a:avLst>
          </a:prstGeom>
          <a:solidFill>
            <a:srgbClr val="2B1508"/>
          </a:solidFill>
          <a:ln w="15875">
            <a:solidFill>
              <a:srgbClr val="C9A84C"/>
            </a:solidFill>
            <a:prstDash val="solid"/>
          </a:ln>
        </p:spPr>
      </p:sp>
      <p:sp>
        <p:nvSpPr>
          <p:cNvPr id="24" name="Shape 19"/>
          <p:cNvSpPr/>
          <p:nvPr/>
        </p:nvSpPr>
        <p:spPr>
          <a:xfrm>
            <a:off x="7383780" y="1956816"/>
            <a:ext cx="713232" cy="713232"/>
          </a:xfrm>
          <a:prstGeom prst="ellipse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pic>
        <p:nvPicPr>
          <p:cNvPr id="2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19294" y="2092330"/>
            <a:ext cx="442204" cy="442204"/>
          </a:xfrm>
          <a:prstGeom prst="rect">
            <a:avLst/>
          </a:prstGeom>
        </p:spPr>
      </p:pic>
      <p:sp>
        <p:nvSpPr>
          <p:cNvPr id="26" name="Text 20"/>
          <p:cNvSpPr txBox="1"/>
          <p:nvPr/>
        </p:nvSpPr>
        <p:spPr>
          <a:xfrm>
            <a:off x="6816852" y="2761488"/>
            <a:ext cx="184708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5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Return</a:t>
            </a:r>
            <a:endParaRPr lang="en-US" sz="1550" dirty="0"/>
          </a:p>
        </p:txBody>
      </p:sp>
      <p:sp>
        <p:nvSpPr>
          <p:cNvPr id="27" name="Text 21"/>
          <p:cNvSpPr txBox="1"/>
          <p:nvPr/>
        </p:nvSpPr>
        <p:spPr>
          <a:xfrm>
            <a:off x="6816852" y="3090672"/>
            <a:ext cx="184708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AF7F0"/>
                </a:solidFill>
              </a:rPr>
              <a:t>ይመልሱ</a:t>
            </a:r>
            <a:endParaRPr lang="en-US" sz="1300" dirty="0"/>
          </a:p>
        </p:txBody>
      </p:sp>
      <p:sp>
        <p:nvSpPr>
          <p:cNvPr id="28" name="Text 22"/>
          <p:cNvSpPr txBox="1"/>
          <p:nvPr/>
        </p:nvSpPr>
        <p:spPr>
          <a:xfrm>
            <a:off x="6853428" y="3419856"/>
            <a:ext cx="1773936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EDD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remind you in time</a:t>
            </a:r>
            <a:endParaRPr lang="en-US" sz="1300" dirty="0"/>
          </a:p>
        </p:txBody>
      </p:sp>
      <p:sp>
        <p:nvSpPr>
          <p:cNvPr id="29" name="Text 23"/>
          <p:cNvSpPr txBox="1"/>
          <p:nvPr/>
        </p:nvSpPr>
        <p:spPr>
          <a:xfrm>
            <a:off x="502920" y="4352544"/>
            <a:ext cx="8138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FAF7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Please return them on time so others can read them too.</a:t>
            </a:r>
            <a:endParaRPr lang="en-US" sz="13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1572768"/>
            <a:ext cx="2057400" cy="2057400"/>
          </a:xfrm>
          <a:prstGeom prst="ellipse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57834" y="1963674"/>
            <a:ext cx="1275588" cy="1275588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3108960" y="274320"/>
            <a:ext cx="55778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1C0F0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Never Miss a Thing</a:t>
            </a:r>
            <a:endParaRPr lang="en-US" sz="3400" dirty="0"/>
          </a:p>
        </p:txBody>
      </p:sp>
      <p:sp>
        <p:nvSpPr>
          <p:cNvPr id="5" name="Text 2"/>
          <p:cNvSpPr txBox="1"/>
          <p:nvPr/>
        </p:nvSpPr>
        <p:spPr>
          <a:xfrm>
            <a:off x="3108960" y="841248"/>
            <a:ext cx="5577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900" dirty="0">
                <a:solidFill>
                  <a:srgbClr val="7A5535"/>
                </a:solidFill>
              </a:rPr>
              <a:t>ምንም ነገር አያመልጥዎ</a:t>
            </a:r>
            <a:endParaRPr lang="en-US" sz="1900" dirty="0"/>
          </a:p>
        </p:txBody>
      </p:sp>
      <p:sp>
        <p:nvSpPr>
          <p:cNvPr id="6" name="Shape 3"/>
          <p:cNvSpPr/>
          <p:nvPr/>
        </p:nvSpPr>
        <p:spPr>
          <a:xfrm>
            <a:off x="3108960" y="1371600"/>
            <a:ext cx="5577840" cy="512064"/>
          </a:xfrm>
          <a:prstGeom prst="roundRect">
            <a:avLst>
              <a:gd name="adj" fmla="val 12500"/>
            </a:avLst>
          </a:prstGeom>
          <a:solidFill>
            <a:srgbClr val="FAF7F0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3291840" y="1490472"/>
            <a:ext cx="5257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3D23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new announcement is posted</a:t>
            </a:r>
            <a:endParaRPr lang="en-US" sz="1350" dirty="0"/>
          </a:p>
        </p:txBody>
      </p:sp>
      <p:sp>
        <p:nvSpPr>
          <p:cNvPr id="8" name="Shape 5"/>
          <p:cNvSpPr/>
          <p:nvPr/>
        </p:nvSpPr>
        <p:spPr>
          <a:xfrm>
            <a:off x="3108960" y="2011680"/>
            <a:ext cx="5577840" cy="512064"/>
          </a:xfrm>
          <a:prstGeom prst="roundRect">
            <a:avLst>
              <a:gd name="adj" fmla="val 12500"/>
            </a:avLst>
          </a:prstGeom>
          <a:solidFill>
            <a:srgbClr val="FAF7F0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3291840" y="2130552"/>
            <a:ext cx="5257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3D23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event starts tomorrow</a:t>
            </a:r>
            <a:endParaRPr lang="en-US" sz="1350" dirty="0"/>
          </a:p>
        </p:txBody>
      </p:sp>
      <p:sp>
        <p:nvSpPr>
          <p:cNvPr id="10" name="Shape 7"/>
          <p:cNvSpPr/>
          <p:nvPr/>
        </p:nvSpPr>
        <p:spPr>
          <a:xfrm>
            <a:off x="3108960" y="2651760"/>
            <a:ext cx="5577840" cy="512064"/>
          </a:xfrm>
          <a:prstGeom prst="roundRect">
            <a:avLst>
              <a:gd name="adj" fmla="val 12500"/>
            </a:avLst>
          </a:prstGeom>
          <a:solidFill>
            <a:srgbClr val="FAF7F0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3291840" y="2770632"/>
            <a:ext cx="5257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3D23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Someone writes in your group</a:t>
            </a:r>
            <a:endParaRPr lang="en-US" sz="1350" dirty="0"/>
          </a:p>
        </p:txBody>
      </p:sp>
      <p:sp>
        <p:nvSpPr>
          <p:cNvPr id="12" name="Shape 9"/>
          <p:cNvSpPr/>
          <p:nvPr/>
        </p:nvSpPr>
        <p:spPr>
          <a:xfrm>
            <a:off x="3108960" y="3291840"/>
            <a:ext cx="5577840" cy="512064"/>
          </a:xfrm>
          <a:prstGeom prst="roundRect">
            <a:avLst>
              <a:gd name="adj" fmla="val 12500"/>
            </a:avLst>
          </a:prstGeom>
          <a:solidFill>
            <a:srgbClr val="FAF7F0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3291840" y="3410712"/>
            <a:ext cx="5257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3D23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book is due back soon</a:t>
            </a:r>
            <a:endParaRPr lang="en-US" sz="1350" dirty="0"/>
          </a:p>
        </p:txBody>
      </p:sp>
      <p:sp>
        <p:nvSpPr>
          <p:cNvPr id="14" name="Shape 11"/>
          <p:cNvSpPr/>
          <p:nvPr/>
        </p:nvSpPr>
        <p:spPr>
          <a:xfrm>
            <a:off x="3108960" y="3931920"/>
            <a:ext cx="5577840" cy="512064"/>
          </a:xfrm>
          <a:prstGeom prst="roundRect">
            <a:avLst>
              <a:gd name="adj" fmla="val 12500"/>
            </a:avLst>
          </a:prstGeom>
          <a:solidFill>
            <a:srgbClr val="FAF7F0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3291840" y="4050792"/>
            <a:ext cx="5257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3D23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books reach the library</a:t>
            </a:r>
            <a:endParaRPr lang="en-US" sz="1350" dirty="0"/>
          </a:p>
        </p:txBody>
      </p:sp>
      <p:sp>
        <p:nvSpPr>
          <p:cNvPr id="16" name="Text 13"/>
          <p:cNvSpPr txBox="1"/>
          <p:nvPr/>
        </p:nvSpPr>
        <p:spPr>
          <a:xfrm>
            <a:off x="3108960" y="4553712"/>
            <a:ext cx="5577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7A55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Turn these on in Profile → Notifications</a:t>
            </a:r>
            <a:endParaRPr lang="en-US" sz="13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274320"/>
            <a:ext cx="81381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1C0F0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Put It On Your Phone</a:t>
            </a:r>
            <a:endParaRPr lang="en-US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502920" y="841248"/>
            <a:ext cx="8138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900" dirty="0">
                <a:solidFill>
                  <a:srgbClr val="7A5535"/>
                </a:solidFill>
              </a:rPr>
              <a:t>በስልክዎ ላይ ያስቀምጡት</a:t>
            </a:r>
            <a:endParaRPr lang="en-US" sz="1900" dirty="0"/>
          </a:p>
        </p:txBody>
      </p:sp>
      <p:sp>
        <p:nvSpPr>
          <p:cNvPr id="4" name="Text 2"/>
          <p:cNvSpPr txBox="1"/>
          <p:nvPr/>
        </p:nvSpPr>
        <p:spPr>
          <a:xfrm>
            <a:off x="502920" y="1243584"/>
            <a:ext cx="81381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3D23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app store. It installs from your browser in seconds.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02920" y="1682496"/>
            <a:ext cx="3931920" cy="2615184"/>
          </a:xfrm>
          <a:prstGeom prst="roundRect">
            <a:avLst>
              <a:gd name="adj" fmla="val 3846"/>
            </a:avLst>
          </a:prstGeom>
          <a:solidFill>
            <a:srgbClr val="1C0F07"/>
          </a:solidFill>
          <a:ln w="15875">
            <a:solidFill>
              <a:srgbClr val="C9A84C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640080" y="1883664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iPhone  ·  Safari</a:t>
            </a:r>
            <a:endParaRPr lang="en-US" sz="1700" dirty="0"/>
          </a:p>
        </p:txBody>
      </p:sp>
      <p:sp>
        <p:nvSpPr>
          <p:cNvPr id="7" name="Shape 5"/>
          <p:cNvSpPr/>
          <p:nvPr/>
        </p:nvSpPr>
        <p:spPr>
          <a:xfrm>
            <a:off x="1691640" y="2340864"/>
            <a:ext cx="1554480" cy="36576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1005840" y="2542032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FAF7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 Open wetcf.com</a:t>
            </a:r>
            <a:endParaRPr lang="en-US" sz="1350" dirty="0"/>
          </a:p>
        </p:txBody>
      </p:sp>
      <p:sp>
        <p:nvSpPr>
          <p:cNvPr id="9" name="Text 7"/>
          <p:cNvSpPr txBox="1"/>
          <p:nvPr/>
        </p:nvSpPr>
        <p:spPr>
          <a:xfrm>
            <a:off x="1005840" y="2962656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FAF7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 Tap Share</a:t>
            </a:r>
            <a:endParaRPr lang="en-US" sz="1350" dirty="0"/>
          </a:p>
        </p:txBody>
      </p:sp>
      <p:sp>
        <p:nvSpPr>
          <p:cNvPr id="10" name="Text 8"/>
          <p:cNvSpPr txBox="1"/>
          <p:nvPr/>
        </p:nvSpPr>
        <p:spPr>
          <a:xfrm>
            <a:off x="1005840" y="338328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FAF7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 Add to Home Screen</a:t>
            </a:r>
            <a:endParaRPr lang="en-US" sz="1350" dirty="0"/>
          </a:p>
        </p:txBody>
      </p:sp>
      <p:sp>
        <p:nvSpPr>
          <p:cNvPr id="11" name="Text 9"/>
          <p:cNvSpPr txBox="1"/>
          <p:nvPr/>
        </p:nvSpPr>
        <p:spPr>
          <a:xfrm>
            <a:off x="1005840" y="3803904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FAF7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 Tap Add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4709160" y="1682496"/>
            <a:ext cx="3931920" cy="2615184"/>
          </a:xfrm>
          <a:prstGeom prst="roundRect">
            <a:avLst>
              <a:gd name="adj" fmla="val 3846"/>
            </a:avLst>
          </a:prstGeom>
          <a:solidFill>
            <a:srgbClr val="1C0F07"/>
          </a:solidFill>
          <a:ln w="15875">
            <a:solidFill>
              <a:srgbClr val="C9A84C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4846320" y="1883664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Android  ·  Chrome</a:t>
            </a:r>
            <a:endParaRPr lang="en-US" sz="1700" dirty="0"/>
          </a:p>
        </p:txBody>
      </p:sp>
      <p:sp>
        <p:nvSpPr>
          <p:cNvPr id="14" name="Shape 12"/>
          <p:cNvSpPr/>
          <p:nvPr/>
        </p:nvSpPr>
        <p:spPr>
          <a:xfrm>
            <a:off x="5897880" y="2340864"/>
            <a:ext cx="1554480" cy="36576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5212080" y="2542032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FAF7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 Open wetcf.com</a:t>
            </a:r>
            <a:endParaRPr lang="en-US" sz="1350" dirty="0"/>
          </a:p>
        </p:txBody>
      </p:sp>
      <p:sp>
        <p:nvSpPr>
          <p:cNvPr id="16" name="Text 14"/>
          <p:cNvSpPr txBox="1"/>
          <p:nvPr/>
        </p:nvSpPr>
        <p:spPr>
          <a:xfrm>
            <a:off x="5212080" y="2962656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FAF7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 Tap the ⋮ menu</a:t>
            </a:r>
            <a:endParaRPr lang="en-US" sz="1350" dirty="0"/>
          </a:p>
        </p:txBody>
      </p:sp>
      <p:sp>
        <p:nvSpPr>
          <p:cNvPr id="17" name="Text 15"/>
          <p:cNvSpPr txBox="1"/>
          <p:nvPr/>
        </p:nvSpPr>
        <p:spPr>
          <a:xfrm>
            <a:off x="5212080" y="338328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FAF7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 Add to Home screen</a:t>
            </a:r>
            <a:endParaRPr lang="en-US" sz="1350" dirty="0"/>
          </a:p>
        </p:txBody>
      </p:sp>
      <p:sp>
        <p:nvSpPr>
          <p:cNvPr id="18" name="Text 16"/>
          <p:cNvSpPr txBox="1"/>
          <p:nvPr/>
        </p:nvSpPr>
        <p:spPr>
          <a:xfrm>
            <a:off x="5212080" y="3803904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FAF7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 Tap Add</a:t>
            </a:r>
            <a:endParaRPr lang="en-US" sz="1350" dirty="0"/>
          </a:p>
        </p:txBody>
      </p:sp>
      <p:sp>
        <p:nvSpPr>
          <p:cNvPr id="19" name="Text 17"/>
          <p:cNvSpPr txBox="1"/>
          <p:nvPr/>
        </p:nvSpPr>
        <p:spPr>
          <a:xfrm>
            <a:off x="502920" y="4443984"/>
            <a:ext cx="8138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7A55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then behaves like a normal app — full screen, with notifications</a:t>
            </a:r>
            <a:endParaRPr lang="en-US" sz="13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C0F0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274320"/>
            <a:ext cx="81381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C9A8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Your Information Is Safe</a:t>
            </a:r>
            <a:endParaRPr lang="en-US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502920" y="841248"/>
            <a:ext cx="8138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900" dirty="0">
                <a:solidFill>
                  <a:srgbClr val="FAF7F0"/>
                </a:solidFill>
              </a:rPr>
              <a:t>መረጃዎ የተጠበቀ ነው</a:t>
            </a:r>
            <a:endParaRPr lang="en-US" sz="1900" dirty="0"/>
          </a:p>
        </p:txBody>
      </p:sp>
      <p:sp>
        <p:nvSpPr>
          <p:cNvPr id="4" name="Shape 2"/>
          <p:cNvSpPr/>
          <p:nvPr/>
        </p:nvSpPr>
        <p:spPr>
          <a:xfrm>
            <a:off x="621792" y="1389888"/>
            <a:ext cx="640080" cy="640080"/>
          </a:xfrm>
          <a:prstGeom prst="ellipse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3407" y="1511503"/>
            <a:ext cx="396850" cy="39685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463040" y="1353312"/>
            <a:ext cx="71323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Members only</a:t>
            </a:r>
            <a:endParaRPr lang="en-US" sz="1600" dirty="0"/>
          </a:p>
        </p:txBody>
      </p:sp>
      <p:sp>
        <p:nvSpPr>
          <p:cNvPr id="7" name="Text 4"/>
          <p:cNvSpPr txBox="1"/>
          <p:nvPr/>
        </p:nvSpPr>
        <p:spPr>
          <a:xfrm>
            <a:off x="1463040" y="1682496"/>
            <a:ext cx="7132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FAF7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open to the public. A leader approves every account.</a:t>
            </a:r>
            <a:endParaRPr lang="en-US" sz="1350" dirty="0"/>
          </a:p>
        </p:txBody>
      </p:sp>
      <p:sp>
        <p:nvSpPr>
          <p:cNvPr id="8" name="Shape 5"/>
          <p:cNvSpPr/>
          <p:nvPr/>
        </p:nvSpPr>
        <p:spPr>
          <a:xfrm>
            <a:off x="621792" y="2240280"/>
            <a:ext cx="640080" cy="640080"/>
          </a:xfrm>
          <a:prstGeom prst="ellipse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3407" y="2361895"/>
            <a:ext cx="396850" cy="396850"/>
          </a:xfrm>
          <a:prstGeom prst="rect">
            <a:avLst/>
          </a:prstGeom>
        </p:spPr>
      </p:pic>
      <p:sp>
        <p:nvSpPr>
          <p:cNvPr id="10" name="Text 6"/>
          <p:cNvSpPr txBox="1"/>
          <p:nvPr/>
        </p:nvSpPr>
        <p:spPr>
          <a:xfrm>
            <a:off x="1463040" y="2203704"/>
            <a:ext cx="71323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Properly protected</a:t>
            </a:r>
            <a:endParaRPr lang="en-US" sz="1600" dirty="0"/>
          </a:p>
        </p:txBody>
      </p:sp>
      <p:sp>
        <p:nvSpPr>
          <p:cNvPr id="11" name="Text 7"/>
          <p:cNvSpPr txBox="1"/>
          <p:nvPr/>
        </p:nvSpPr>
        <p:spPr>
          <a:xfrm>
            <a:off x="1463040" y="2532888"/>
            <a:ext cx="7132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FAF7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Encrypted, and passwords stored so even we cannot read them.</a:t>
            </a:r>
            <a:endParaRPr lang="en-US" sz="1350" dirty="0"/>
          </a:p>
        </p:txBody>
      </p:sp>
      <p:sp>
        <p:nvSpPr>
          <p:cNvPr id="12" name="Shape 8"/>
          <p:cNvSpPr/>
          <p:nvPr/>
        </p:nvSpPr>
        <p:spPr>
          <a:xfrm>
            <a:off x="621792" y="3090672"/>
            <a:ext cx="640080" cy="640080"/>
          </a:xfrm>
          <a:prstGeom prst="ellipse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3407" y="3212287"/>
            <a:ext cx="396850" cy="396850"/>
          </a:xfrm>
          <a:prstGeom prst="rect">
            <a:avLst/>
          </a:prstGeom>
        </p:spPr>
      </p:pic>
      <p:sp>
        <p:nvSpPr>
          <p:cNvPr id="14" name="Text 9"/>
          <p:cNvSpPr txBox="1"/>
          <p:nvPr/>
        </p:nvSpPr>
        <p:spPr>
          <a:xfrm>
            <a:off x="1463040" y="3054096"/>
            <a:ext cx="71323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Yours to remove</a:t>
            </a:r>
            <a:endParaRPr lang="en-US" sz="1600" dirty="0"/>
          </a:p>
        </p:txBody>
      </p:sp>
      <p:sp>
        <p:nvSpPr>
          <p:cNvPr id="15" name="Text 10"/>
          <p:cNvSpPr txBox="1"/>
          <p:nvPr/>
        </p:nvSpPr>
        <p:spPr>
          <a:xfrm>
            <a:off x="1463040" y="3383280"/>
            <a:ext cx="7132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FAF7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Delete your account and details any time, from your profile.</a:t>
            </a:r>
            <a:endParaRPr lang="en-US" sz="1350" dirty="0"/>
          </a:p>
        </p:txBody>
      </p:sp>
      <p:sp>
        <p:nvSpPr>
          <p:cNvPr id="16" name="Shape 11"/>
          <p:cNvSpPr/>
          <p:nvPr/>
        </p:nvSpPr>
        <p:spPr>
          <a:xfrm>
            <a:off x="621792" y="3941064"/>
            <a:ext cx="640080" cy="640080"/>
          </a:xfrm>
          <a:prstGeom prst="ellipse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pic>
        <p:nvPicPr>
          <p:cNvPr id="17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3407" y="4062679"/>
            <a:ext cx="396850" cy="396850"/>
          </a:xfrm>
          <a:prstGeom prst="rect">
            <a:avLst/>
          </a:prstGeom>
        </p:spPr>
      </p:pic>
      <p:sp>
        <p:nvSpPr>
          <p:cNvPr id="18" name="Text 12"/>
          <p:cNvSpPr txBox="1"/>
          <p:nvPr/>
        </p:nvSpPr>
        <p:spPr>
          <a:xfrm>
            <a:off x="1463040" y="3904488"/>
            <a:ext cx="71323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Never sold</a:t>
            </a:r>
            <a:endParaRPr lang="en-US" sz="1600" dirty="0"/>
          </a:p>
        </p:txBody>
      </p:sp>
      <p:sp>
        <p:nvSpPr>
          <p:cNvPr id="19" name="Text 13"/>
          <p:cNvSpPr txBox="1"/>
          <p:nvPr/>
        </p:nvSpPr>
        <p:spPr>
          <a:xfrm>
            <a:off x="1463040" y="4233672"/>
            <a:ext cx="7132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FAF7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do not sell or share your information. Ever.</a:t>
            </a:r>
            <a:endParaRPr lang="en-US" sz="13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384048"/>
            <a:ext cx="49377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C0F0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Join Us — Right Now</a:t>
            </a:r>
            <a:endParaRPr lang="en-US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502920" y="950976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7A5535"/>
                </a:solidFill>
              </a:rPr>
              <a:t>አሁኑኑ ይቀላቀሉን</a:t>
            </a:r>
            <a:endParaRPr lang="en-US" sz="1900" dirty="0"/>
          </a:p>
        </p:txBody>
      </p:sp>
      <p:sp>
        <p:nvSpPr>
          <p:cNvPr id="4" name="Shape 2"/>
          <p:cNvSpPr/>
          <p:nvPr/>
        </p:nvSpPr>
        <p:spPr>
          <a:xfrm>
            <a:off x="530352" y="1554480"/>
            <a:ext cx="530352" cy="530352"/>
          </a:xfrm>
          <a:prstGeom prst="ellipse">
            <a:avLst/>
          </a:prstGeom>
          <a:solidFill>
            <a:srgbClr val="1C0F07"/>
          </a:solidFill>
          <a:ln w="12700">
            <a:solidFill>
              <a:srgbClr val="1C0F07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30352" y="1591056"/>
            <a:ext cx="5303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C9A84C"/>
                </a:solidFill>
              </a:rPr>
              <a:t>1</a:t>
            </a:r>
            <a:endParaRPr lang="en-US" sz="1900" dirty="0"/>
          </a:p>
        </p:txBody>
      </p:sp>
      <p:sp>
        <p:nvSpPr>
          <p:cNvPr id="6" name="Text 4"/>
          <p:cNvSpPr txBox="1"/>
          <p:nvPr/>
        </p:nvSpPr>
        <p:spPr>
          <a:xfrm>
            <a:off x="1207008" y="1536192"/>
            <a:ext cx="4023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C0F0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Scan the code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1207008" y="1847088"/>
            <a:ext cx="4023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D23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Point your phone camera at it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530352" y="2322576"/>
            <a:ext cx="530352" cy="530352"/>
          </a:xfrm>
          <a:prstGeom prst="ellipse">
            <a:avLst/>
          </a:prstGeom>
          <a:solidFill>
            <a:srgbClr val="1C0F07"/>
          </a:solidFill>
          <a:ln w="12700">
            <a:solidFill>
              <a:srgbClr val="1C0F07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530352" y="2359152"/>
            <a:ext cx="5303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C9A84C"/>
                </a:solidFill>
              </a:rPr>
              <a:t>2</a:t>
            </a:r>
            <a:endParaRPr lang="en-US" sz="1900" dirty="0"/>
          </a:p>
        </p:txBody>
      </p:sp>
      <p:sp>
        <p:nvSpPr>
          <p:cNvPr id="10" name="Text 8"/>
          <p:cNvSpPr txBox="1"/>
          <p:nvPr/>
        </p:nvSpPr>
        <p:spPr>
          <a:xfrm>
            <a:off x="1207008" y="2304288"/>
            <a:ext cx="4023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C0F0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your account</a:t>
            </a:r>
            <a:endParaRPr lang="en-US" sz="1600" dirty="0"/>
          </a:p>
        </p:txBody>
      </p:sp>
      <p:sp>
        <p:nvSpPr>
          <p:cNvPr id="11" name="Text 9"/>
          <p:cNvSpPr txBox="1"/>
          <p:nvPr/>
        </p:nvSpPr>
        <p:spPr>
          <a:xfrm>
            <a:off x="1207008" y="2615184"/>
            <a:ext cx="4023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D23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 two minutes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530352" y="3090672"/>
            <a:ext cx="530352" cy="530352"/>
          </a:xfrm>
          <a:prstGeom prst="ellipse">
            <a:avLst/>
          </a:prstGeom>
          <a:solidFill>
            <a:srgbClr val="1C0F07"/>
          </a:solidFill>
          <a:ln w="12700">
            <a:solidFill>
              <a:srgbClr val="1C0F07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530352" y="3127248"/>
            <a:ext cx="5303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C9A84C"/>
                </a:solidFill>
              </a:rPr>
              <a:t>3</a:t>
            </a:r>
            <a:endParaRPr lang="en-US" sz="1900" dirty="0"/>
          </a:p>
        </p:txBody>
      </p:sp>
      <p:sp>
        <p:nvSpPr>
          <p:cNvPr id="14" name="Text 12"/>
          <p:cNvSpPr txBox="1"/>
          <p:nvPr/>
        </p:nvSpPr>
        <p:spPr>
          <a:xfrm>
            <a:off x="1207008" y="3072384"/>
            <a:ext cx="4023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C0F0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it to your phone</a:t>
            </a:r>
            <a:endParaRPr lang="en-US" sz="1600" dirty="0"/>
          </a:p>
        </p:txBody>
      </p:sp>
      <p:sp>
        <p:nvSpPr>
          <p:cNvPr id="15" name="Text 13"/>
          <p:cNvSpPr txBox="1"/>
          <p:nvPr/>
        </p:nvSpPr>
        <p:spPr>
          <a:xfrm>
            <a:off x="1207008" y="3383280"/>
            <a:ext cx="4023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D23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tap away next time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530352" y="3858768"/>
            <a:ext cx="530352" cy="530352"/>
          </a:xfrm>
          <a:prstGeom prst="ellipse">
            <a:avLst/>
          </a:prstGeom>
          <a:solidFill>
            <a:srgbClr val="1C0F07"/>
          </a:solidFill>
          <a:ln w="12700">
            <a:solidFill>
              <a:srgbClr val="1C0F07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530352" y="3895344"/>
            <a:ext cx="5303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C9A84C"/>
                </a:solidFill>
              </a:rPr>
              <a:t>4</a:t>
            </a:r>
            <a:endParaRPr lang="en-US" sz="1900" dirty="0"/>
          </a:p>
        </p:txBody>
      </p:sp>
      <p:sp>
        <p:nvSpPr>
          <p:cNvPr id="18" name="Text 16"/>
          <p:cNvSpPr txBox="1"/>
          <p:nvPr/>
        </p:nvSpPr>
        <p:spPr>
          <a:xfrm>
            <a:off x="1207008" y="3840480"/>
            <a:ext cx="4023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C0F0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Turn on notifications</a:t>
            </a:r>
            <a:endParaRPr lang="en-US" sz="1600" dirty="0"/>
          </a:p>
        </p:txBody>
      </p:sp>
      <p:sp>
        <p:nvSpPr>
          <p:cNvPr id="19" name="Text 17"/>
          <p:cNvSpPr txBox="1"/>
          <p:nvPr/>
        </p:nvSpPr>
        <p:spPr>
          <a:xfrm>
            <a:off x="1207008" y="4151376"/>
            <a:ext cx="4023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D23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Profile → Notifications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5623560" y="804672"/>
            <a:ext cx="3035808" cy="3703320"/>
          </a:xfrm>
          <a:prstGeom prst="roundRect">
            <a:avLst>
              <a:gd name="adj" fmla="val 3614"/>
            </a:avLst>
          </a:prstGeom>
          <a:solidFill>
            <a:srgbClr val="1C0F07"/>
          </a:solidFill>
          <a:ln w="19050">
            <a:solidFill>
              <a:srgbClr val="C9A84C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5715000" y="969264"/>
            <a:ext cx="285292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Scan to join</a:t>
            </a:r>
            <a:endParaRPr lang="en-US" sz="1700" dirty="0"/>
          </a:p>
        </p:txBody>
      </p:sp>
      <p:sp>
        <p:nvSpPr>
          <p:cNvPr id="22" name="Shape 20"/>
          <p:cNvSpPr/>
          <p:nvPr/>
        </p:nvSpPr>
        <p:spPr>
          <a:xfrm>
            <a:off x="6254496" y="1408176"/>
            <a:ext cx="1773936" cy="1773936"/>
          </a:xfrm>
          <a:prstGeom prst="roundRect">
            <a:avLst>
              <a:gd name="adj" fmla="val 3093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2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336792" y="1490472"/>
            <a:ext cx="1609344" cy="1609344"/>
          </a:xfrm>
          <a:prstGeom prst="rect">
            <a:avLst/>
          </a:prstGeom>
        </p:spPr>
      </p:pic>
      <p:sp>
        <p:nvSpPr>
          <p:cNvPr id="24" name="Text 21"/>
          <p:cNvSpPr txBox="1"/>
          <p:nvPr/>
        </p:nvSpPr>
        <p:spPr>
          <a:xfrm>
            <a:off x="5715000" y="3310128"/>
            <a:ext cx="28529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EDD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wetcf.com/register</a:t>
            </a:r>
            <a:endParaRPr lang="en-US" sz="1500" dirty="0"/>
          </a:p>
        </p:txBody>
      </p:sp>
      <p:sp>
        <p:nvSpPr>
          <p:cNvPr id="25" name="Text 22"/>
          <p:cNvSpPr txBox="1"/>
          <p:nvPr/>
        </p:nvSpPr>
        <p:spPr>
          <a:xfrm>
            <a:off x="5760720" y="3694176"/>
            <a:ext cx="276148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FAF7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phone with you?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i="1" dirty="0">
                <a:solidFill>
                  <a:srgbClr val="FAF7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Speak to one of our leaders.</a:t>
            </a:r>
            <a:endParaRPr lang="en-US" sz="13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1C0F0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Find Us Online</a:t>
            </a:r>
            <a:endParaRPr lang="en-US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841248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dirty="0">
                <a:solidFill>
                  <a:srgbClr val="7A5535"/>
                </a:solidFill>
              </a:rPr>
              <a:t>በኦንላይን ያግኙን</a:t>
            </a:r>
            <a:endParaRPr lang="en-US" sz="1900" dirty="0"/>
          </a:p>
        </p:txBody>
      </p:sp>
      <p:sp>
        <p:nvSpPr>
          <p:cNvPr id="4" name="Shape 2"/>
          <p:cNvSpPr/>
          <p:nvPr/>
        </p:nvSpPr>
        <p:spPr>
          <a:xfrm>
            <a:off x="475488" y="1627632"/>
            <a:ext cx="2606040" cy="2286000"/>
          </a:xfrm>
          <a:prstGeom prst="roundRect">
            <a:avLst>
              <a:gd name="adj" fmla="val 4400"/>
            </a:avLst>
          </a:prstGeom>
          <a:solidFill>
            <a:srgbClr val="FFFFFF"/>
          </a:solidFill>
          <a:ln w="19050">
            <a:solidFill>
              <a:srgbClr val="C9A84C"/>
            </a:solidFill>
            <a:prstDash val="solid"/>
          </a:ln>
          <a:effectLst>
            <a:outerShdw sx="100000" sy="100000" kx="0" ky="0" algn="bl" rotWithShape="0" blurRad="101600" dist="38100" dir="2700000">
              <a:srgbClr val="C0B4A4">
                <a:alpha val="3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376172" y="1883664"/>
            <a:ext cx="804672" cy="804672"/>
          </a:xfrm>
          <a:prstGeom prst="ellipse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29060" y="2036552"/>
            <a:ext cx="498897" cy="498897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548640" y="2816352"/>
            <a:ext cx="245973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C0F0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wetcf.com</a:t>
            </a:r>
            <a:endParaRPr lang="en-US" sz="1700" dirty="0"/>
          </a:p>
        </p:txBody>
      </p:sp>
      <p:sp>
        <p:nvSpPr>
          <p:cNvPr id="8" name="Text 5"/>
          <p:cNvSpPr txBox="1"/>
          <p:nvPr/>
        </p:nvSpPr>
        <p:spPr>
          <a:xfrm>
            <a:off x="585216" y="3200400"/>
            <a:ext cx="238658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3D23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website — share it with anyone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3255264" y="1627632"/>
            <a:ext cx="2606040" cy="2286000"/>
          </a:xfrm>
          <a:prstGeom prst="roundRect">
            <a:avLst>
              <a:gd name="adj" fmla="val 4400"/>
            </a:avLst>
          </a:prstGeom>
          <a:solidFill>
            <a:srgbClr val="FFFFFF"/>
          </a:solidFill>
          <a:ln w="19050">
            <a:solidFill>
              <a:srgbClr val="C9A84C"/>
            </a:solidFill>
            <a:prstDash val="solid"/>
          </a:ln>
          <a:effectLst>
            <a:outerShdw sx="100000" sy="100000" kx="0" ky="0" algn="bl" rotWithShape="0" blurRad="101600" dist="38100" dir="2700000">
              <a:srgbClr val="C0B4A4">
                <a:alpha val="35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4155948" y="1883664"/>
            <a:ext cx="804672" cy="804672"/>
          </a:xfrm>
          <a:prstGeom prst="ellipse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08836" y="2036552"/>
            <a:ext cx="498897" cy="498897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3328416" y="2816352"/>
            <a:ext cx="245973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C0F0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YouTube</a:t>
            </a:r>
            <a:endParaRPr lang="en-US" sz="1700" dirty="0"/>
          </a:p>
        </p:txBody>
      </p:sp>
      <p:sp>
        <p:nvSpPr>
          <p:cNvPr id="13" name="Text 9"/>
          <p:cNvSpPr txBox="1"/>
          <p:nvPr/>
        </p:nvSpPr>
        <p:spPr>
          <a:xfrm>
            <a:off x="3364992" y="3200400"/>
            <a:ext cx="238658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3D23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@warsawethiopianfellowship</a:t>
            </a:r>
            <a:endParaRPr lang="en-US" sz="1300" dirty="0"/>
          </a:p>
        </p:txBody>
      </p:sp>
      <p:sp>
        <p:nvSpPr>
          <p:cNvPr id="14" name="Shape 10"/>
          <p:cNvSpPr/>
          <p:nvPr/>
        </p:nvSpPr>
        <p:spPr>
          <a:xfrm>
            <a:off x="6035040" y="1627632"/>
            <a:ext cx="2606040" cy="2286000"/>
          </a:xfrm>
          <a:prstGeom prst="roundRect">
            <a:avLst>
              <a:gd name="adj" fmla="val 4400"/>
            </a:avLst>
          </a:prstGeom>
          <a:solidFill>
            <a:srgbClr val="FFFFFF"/>
          </a:solidFill>
          <a:ln w="19050">
            <a:solidFill>
              <a:srgbClr val="C9A84C"/>
            </a:solidFill>
            <a:prstDash val="solid"/>
          </a:ln>
          <a:effectLst>
            <a:outerShdw sx="100000" sy="100000" kx="0" ky="0" algn="bl" rotWithShape="0" blurRad="101600" dist="38100" dir="2700000">
              <a:srgbClr val="C0B4A4">
                <a:alpha val="35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6935724" y="1883664"/>
            <a:ext cx="804672" cy="804672"/>
          </a:xfrm>
          <a:prstGeom prst="ellipse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88612" y="2036552"/>
            <a:ext cx="498897" cy="498897"/>
          </a:xfrm>
          <a:prstGeom prst="rect">
            <a:avLst/>
          </a:prstGeom>
        </p:spPr>
      </p:pic>
      <p:sp>
        <p:nvSpPr>
          <p:cNvPr id="17" name="Text 12"/>
          <p:cNvSpPr txBox="1"/>
          <p:nvPr/>
        </p:nvSpPr>
        <p:spPr>
          <a:xfrm>
            <a:off x="6108192" y="2816352"/>
            <a:ext cx="245973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C0F0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Instagram</a:t>
            </a:r>
            <a:endParaRPr lang="en-US" sz="1700" dirty="0"/>
          </a:p>
        </p:txBody>
      </p:sp>
      <p:sp>
        <p:nvSpPr>
          <p:cNvPr id="18" name="Text 13"/>
          <p:cNvSpPr txBox="1"/>
          <p:nvPr/>
        </p:nvSpPr>
        <p:spPr>
          <a:xfrm>
            <a:off x="6144768" y="3200400"/>
            <a:ext cx="238658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3D23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@warsaw_fellowship</a:t>
            </a:r>
            <a:endParaRPr lang="en-US" sz="1300" dirty="0"/>
          </a:p>
        </p:txBody>
      </p:sp>
      <p:sp>
        <p:nvSpPr>
          <p:cNvPr id="19" name="Text 14"/>
          <p:cNvSpPr txBox="1"/>
          <p:nvPr/>
        </p:nvSpPr>
        <p:spPr>
          <a:xfrm>
            <a:off x="457200" y="4206240"/>
            <a:ext cx="8229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i="1" dirty="0">
                <a:solidFill>
                  <a:srgbClr val="7A5535"/>
                </a:solidFill>
              </a:rPr>
              <a:t>Invite someone this week · በዚህ ሳምንት አንድ ሰው ይጋብዙ</a:t>
            </a:r>
            <a:endParaRPr lang="en-US" sz="15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1C0F0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14800" y="237744"/>
            <a:ext cx="914400" cy="9144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1371600" y="1298448"/>
            <a:ext cx="6400800" cy="36576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4" name="Text 1"/>
          <p:cNvSpPr txBox="1"/>
          <p:nvPr/>
        </p:nvSpPr>
        <p:spPr>
          <a:xfrm>
            <a:off x="548640" y="1463040"/>
            <a:ext cx="80467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i="1" dirty="0">
                <a:solidFill>
                  <a:srgbClr val="FAF7F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"And let us consider how we may spur one another on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i="1" dirty="0">
                <a:solidFill>
                  <a:srgbClr val="FAF7F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toward love and good deeds, not giving up meeting together,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i="1" dirty="0">
                <a:solidFill>
                  <a:srgbClr val="FAF7F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but encouraging one another."</a:t>
            </a:r>
            <a:endParaRPr lang="en-US" sz="16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2468880"/>
            <a:ext cx="8046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Hebrews 10:24–25</a:t>
            </a:r>
            <a:endParaRPr lang="en-US" sz="135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2889504"/>
            <a:ext cx="804672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i="1" dirty="0">
                <a:solidFill>
                  <a:srgbClr val="FAF7F0"/>
                </a:solidFill>
              </a:rPr>
              <a:t>"እርስ በርሳችን ፍቅርን እና መልካም ሥራን ለማነሳሳት እንተጋ፤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i="1" dirty="0">
                <a:solidFill>
                  <a:srgbClr val="FAF7F0"/>
                </a:solidFill>
              </a:rPr>
              <a:t>መሰብሰብን ሳንተው እርስ በርሳችን እናበረታታ።"</a:t>
            </a:r>
            <a:endParaRPr lang="en-US" sz="1600" dirty="0"/>
          </a:p>
        </p:txBody>
      </p:sp>
      <p:sp>
        <p:nvSpPr>
          <p:cNvPr id="7" name="Text 4"/>
          <p:cNvSpPr txBox="1"/>
          <p:nvPr/>
        </p:nvSpPr>
        <p:spPr>
          <a:xfrm>
            <a:off x="548640" y="3657600"/>
            <a:ext cx="8046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C9A84C"/>
                </a:solidFill>
              </a:rPr>
              <a:t>ዕብራውያን 10:24–25</a:t>
            </a:r>
            <a:endParaRPr lang="en-US" sz="1350" dirty="0"/>
          </a:p>
        </p:txBody>
      </p:sp>
      <p:sp>
        <p:nvSpPr>
          <p:cNvPr id="8" name="Shape 5"/>
          <p:cNvSpPr/>
          <p:nvPr/>
        </p:nvSpPr>
        <p:spPr>
          <a:xfrm>
            <a:off x="1371600" y="4078224"/>
            <a:ext cx="6400800" cy="36576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0" y="4224528"/>
            <a:ext cx="9144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wetcf.com</a:t>
            </a:r>
            <a:endParaRPr lang="en-US" sz="1500" dirty="0"/>
          </a:p>
        </p:txBody>
      </p:sp>
      <p:sp>
        <p:nvSpPr>
          <p:cNvPr id="10" name="Text 7"/>
          <p:cNvSpPr txBox="1"/>
          <p:nvPr/>
        </p:nvSpPr>
        <p:spPr>
          <a:xfrm>
            <a:off x="0" y="4553712"/>
            <a:ext cx="9144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C4A882"/>
                </a:solidFill>
              </a:rPr>
              <a:t>Thank you · እናመሰግናለን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WETCF Launch</dc:title>
  <dc:subject>PptxGenJS Presentation</dc:subject>
  <dc:creator>Warsaw Ethiopian Christian Fellowship</dc:creator>
  <cp:lastModifiedBy>Warsaw Ethiopian Christian Fellowship</cp:lastModifiedBy>
  <cp:revision>1</cp:revision>
  <dcterms:created xsi:type="dcterms:W3CDTF">2026-10-03T16:03:29Z</dcterms:created>
  <dcterms:modified xsi:type="dcterms:W3CDTF">2026-10-03T16:03:29Z</dcterms:modified>
</cp:coreProperties>
</file>